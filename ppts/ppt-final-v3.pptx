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80" r:id="rId29"/>
    <p:sldId id="281" r:id="rId30"/>
    <p:sldId id="282" r:id="rId31"/>
    <p:sldId id="283" r:id="rId32"/>
    <p:sldId id="284" r:id="rId33"/>
    <p:sldId id="285" r:id="rId34"/>
    <p:sldId id="272" r:id="rId21"/>
    <p:sldId id="273" r:id="rId22"/>
    <p:sldId id="274" r:id="rId23"/>
    <p:sldId id="275" r:id="rId24"/>
    <p:sldId id="279" r:id="rId28"/>
    <p:sldId id="276" r:id="rId25"/>
    <p:sldId id="277" r:id="rId26"/>
    <p:sldId id="278" r:id="rId27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1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Post-Gen LLM Baseline</c:v>
                </c:pt>
              </c:strCache>
            </c:strRef>
          </c:tx>
          <c:spPr>
            <a:solidFill>
              <a:srgbClr val="B0B8C1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</c:v>
                </c:pt>
                <c:pt idx="1">
                  <c:v>0.65</c:v>
                </c:pt>
                <c:pt idx="2">
                  <c:v>0.725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(w/o Linking)</c:v>
                </c:pt>
              </c:strCache>
            </c:strRef>
          </c:tx>
          <c:spPr>
            <a:solidFill>
              <a:srgbClr val="89B7E0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0.94</c:v>
                </c:pt>
                <c:pt idx="1">
                  <c:v>0.7</c:v>
                </c:pt>
                <c:pt idx="2">
                  <c:v>0.803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Proposed (Full System)</c:v>
                </c:pt>
              </c:strCache>
            </c:strRef>
          </c:tx>
          <c:spPr>
            <a:solidFill>
              <a:srgbClr val="1F406C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0.96</c:v>
                </c:pt>
                <c:pt idx="1">
                  <c:v>0.88</c:v>
                </c:pt>
                <c:pt idx="2">
                  <c:v>0.918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65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100">
                <a:solidFill>
                  <a:srgbClr val="2A303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2A303A"/>
                </a:solidFill>
              </a:defRPr>
            </a:pPr>
          </a:p>
        </c:txPr>
        <c:crossAx val="-2068027336"/>
        <c:crosses val="autoZero"/>
        <c:majorUnit val="0.2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A303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w/o Cross-Modal Linking</c:v>
                </c:pt>
              </c:strCache>
            </c:strRef>
          </c:tx>
          <c:spPr>
            <a:solidFill>
              <a:srgbClr val="89B7E0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</c:v>
                </c:pt>
                <c:pt idx="1">
                  <c:v>0.7</c:v>
                </c:pt>
                <c:pt idx="2">
                  <c:v>0.803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w/ Cross-Modal Linking</c:v>
                </c:pt>
              </c:strCache>
            </c:strRef>
          </c:tx>
          <c:spPr>
            <a:solidFill>
              <a:srgbClr val="1F406C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</c:v>
                </c:pt>
                <c:pt idx="1">
                  <c:v>0.88</c:v>
                </c:pt>
                <c:pt idx="2">
                  <c:v>0.918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65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100">
                <a:solidFill>
                  <a:srgbClr val="2A303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2A303A"/>
                </a:solidFill>
              </a:defRPr>
            </a:pPr>
          </a:p>
        </c:txPr>
        <c:crossAx val="-2068027336"/>
        <c:crosses val="autoZero"/>
        <c:majorUnit val="0.2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A303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2047" y="1444752"/>
            <a:ext cx="32186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What is the project?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2552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dirty="0">
                <a:solidFill>
                  <a:srgbClr val="2A303A"/>
                </a:solidFill>
                <a:latin typeface="Cambria"/>
              </a:rPr>
              <a:t>• A neuro-symbolic framework that audits multimodal industrial control specifications before PLC synthesis.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dirty="0">
                <a:solidFill>
                  <a:srgbClr val="2A303A"/>
                </a:solidFill>
                <a:latin typeface="Cambria"/>
              </a:rPr>
              <a:t>• AI is used for document understanding and structured extraction.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dirty="0">
                <a:solidFill>
                  <a:srgbClr val="2A303A"/>
                </a:solidFill>
                <a:latin typeface="Cambria"/>
              </a:rPr>
              <a:t>• Formal verification checks safety properties before code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24612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6767" y="1417320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Why is it needed?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0266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 generator can faithfully translate what is written even when the specification is incomplete or inconsistent.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Potential issues include missing shutdown constraints, contradictory rules and mismatched tags.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Moving verification upstream can expose these issues before implementation.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25880"/>
            <a:ext cx="35204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7482" y="1435608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What does it process?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1783080"/>
            <a:ext cx="33009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Control narratives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Cause-and-effect / interlock tables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P&amp;ID diagrams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Unified asset and control representation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Core research: multimodal extraction  →  cross-modal linking  →  safety invariants  →  Z3 auditing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Introduction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6583680" cy="44805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Industrial Control Systems support critical infrastructure such as chemical, oil &amp; gas, water, power and pharmaceutical plants.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PLCs execute control logic derived from engineering specifications.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The specification is distributed across narratives, cause-and-effect tables, interlock matrices and P&amp;ID diagrams.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Large specifications require engineers to connect information across many pages and formats.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A safety-oriented audit before synthesis can identify logically detectable issues earlier.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353312"/>
            <a:ext cx="3520440" cy="416052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24044" y="1451967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0688" y="1810512"/>
            <a:ext cx="3300984" cy="3611879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Understand multiple document formats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Check consistency and safety constraints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Preserve source evidence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Keep the engineer as final checkpoint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200" b="1" i="0">
                <a:solidFill>
                  <a:srgbClr val="1F406C"/>
                </a:solidFill>
                <a:latin typeface="Cambria"/>
              </a:rPr>
              <a:t>Specification → AI understanding → formal model → safety audit → PLC synthesis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4273" y="1472184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Observed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16382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Control specifications can contain ambiguous, contradictory or incomplete information.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Information is distributed across text, tables and diagrams.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 generator only sees what is represented in its input.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25880"/>
            <a:ext cx="329184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18888" y="1430658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Illustrative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1783080"/>
            <a:ext cx="30723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Written: “If pressure becomes high, monitor pump condition.”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Expected safety behaviour: “If pressure exceeds the defined threshold, stop the pump.”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The missing constraint may survive translation into PLC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325880"/>
            <a:ext cx="35204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50983" y="1437118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Research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7" y="1783080"/>
            <a:ext cx="33009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How can safety deficiencies within a specification be detected before PLC generation?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How can extracted information be formalized for safety checking?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How can findings remain traceable to engineering evidence?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33872"/>
            <a:ext cx="1042416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AA4949"/>
                </a:solidFill>
                <a:latin typeface="Cambria"/>
              </a:rPr>
              <a:t>Scope: identify gaps/violations relative to explicit safety properties — not every undocumented engineering intention.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34440"/>
          <a:ext cx="109270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Year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Representative work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What it addresses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Gap for this work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Automated Generation of Modular PLC Control Software from P&amp;ID Diagrams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P&amp;ID-based PLC/control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Source omissions are not the primary focus.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2015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Automatic Test of Safety Specifications for PLC Programs in Oil &amp; Gas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Cause-and-effect safety testing with Petri nets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Does not focus on multimodal source completeness before synthesis.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Formal verification of PLC / IEC 61131-3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Formal models/model checking for PLC safety and conformity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Typically centred on implementation/formal properties.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LLM4PLC / Agents4PLC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LLM-assisted PLC generation with verification/feedback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Focus remains largely on generation and code verification.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Automatic assertion generation with LLM for ICS program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Document constraints mapped to program assertions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Target is program verification; our focus is pre-synthesis specification auditing.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833872"/>
            <a:ext cx="1051560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Trend: manual engineering → AI-assisted generation → post-generation verification → opportunity for specification-stage auditing.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38912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300" b="1" i="0">
                <a:solidFill>
                  <a:srgbClr val="1F406C"/>
                </a:solidFill>
                <a:latin typeface="Cambria"/>
              </a:rPr>
              <a:t>Existing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645920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25296" y="1719072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Specification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148840"/>
            <a:ext cx="0" cy="22860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88720" y="2423160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25296" y="2496312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AI generation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2926080"/>
            <a:ext cx="0" cy="22860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88720" y="3200400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5296" y="3273552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PLC code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3703320"/>
            <a:ext cx="0" cy="22860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88720" y="3977639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25296" y="4050791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2344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300" b="1" i="0">
                <a:solidFill>
                  <a:srgbClr val="1F406C"/>
                </a:solidFill>
                <a:latin typeface="Cambria"/>
              </a:rPr>
              <a:t>Proposed research direction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554480"/>
            <a:ext cx="3749039" cy="438912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11696" y="1627632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Multimodal specification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9640" y="1993392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675120" y="2212848"/>
            <a:ext cx="3749039" cy="438912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11696" y="2286000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Formal control model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49640" y="2651760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75120" y="2871215"/>
            <a:ext cx="3749039" cy="438912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11696" y="2944368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Safety invariants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49640" y="3310128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675120" y="3529584"/>
            <a:ext cx="3749039" cy="438912"/>
          </a:xfrm>
          <a:prstGeom prst="roundRect">
            <a:avLst/>
          </a:prstGeom>
          <a:solidFill>
            <a:srgbClr val="F1EBFA"/>
          </a:solidFill>
          <a:ln w="1270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11696" y="3602736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Z3 audit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49640" y="3968496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675120" y="4187952"/>
            <a:ext cx="3749039" cy="438912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11696" y="4261104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Engineer review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49640" y="4626864"/>
            <a:ext cx="0" cy="201167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675120" y="4846320"/>
            <a:ext cx="3749039" cy="438912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11695" y="4896317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PLC synthesis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5" y="5426964"/>
            <a:ext cx="10250424" cy="772668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6695" y="5148072"/>
            <a:ext cx="10122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Gap under investigation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5" y="5632704"/>
            <a:ext cx="10158984" cy="4114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 dirty="0">
                <a:solidFill>
                  <a:srgbClr val="2A303A"/>
                </a:solidFill>
                <a:latin typeface="Cambria"/>
              </a:rPr>
              <a:t>• Specification-level, pre-synthesis formal auditing of multimodal control requirements, with explicit safety invariants and traceable findings.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Research Questions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1353312"/>
            <a:ext cx="566928" cy="566928"/>
          </a:xfrm>
          <a:prstGeom prst="ellipse">
            <a:avLst/>
          </a:prstGeom>
          <a:solidFill>
            <a:srgbClr val="ECF4FD"/>
          </a:solidFill>
          <a:ln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490472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5B8CD2"/>
                </a:solidFill>
                <a:latin typeface="Cambria"/>
              </a:rPr>
              <a:t>RQ1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5B8CD2"/>
                </a:solidFill>
                <a:latin typeface="Cambria"/>
              </a:rPr>
              <a:t>Multimodal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325880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Can control entities, relationships, conditions and actions be accurately extracted from text, tables and P&amp;ID diagrams?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432303"/>
            <a:ext cx="566928" cy="566928"/>
          </a:xfrm>
          <a:prstGeom prst="ellipse">
            <a:avLst/>
          </a:prstGeom>
          <a:solidFill>
            <a:srgbClr val="EAF6EC"/>
          </a:solidFill>
          <a:ln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569464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538B5C"/>
                </a:solidFill>
                <a:latin typeface="Cambria"/>
              </a:rPr>
              <a:t>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04872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538B5C"/>
                </a:solidFill>
                <a:latin typeface="Cambria"/>
              </a:rPr>
              <a:t>Formal representation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404872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Can extracted control information be transformed into a consistent structured representation suitable for formal verification?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511295"/>
            <a:ext cx="566928" cy="566928"/>
          </a:xfrm>
          <a:prstGeom prst="ellipse">
            <a:avLst/>
          </a:prstGeom>
          <a:solidFill>
            <a:srgbClr val="FCF4E2"/>
          </a:solidFill>
          <a:ln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648456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C6822D"/>
                </a:solidFill>
                <a:latin typeface="Cambria"/>
              </a:rPr>
              <a:t>RQ3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83863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C6822D"/>
                </a:solidFill>
                <a:latin typeface="Cambria"/>
              </a:rPr>
              <a:t>Pre-synthesis safety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483863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Can Z3-based formal verification identify safety-property violations or specification gaps relative to predefined safety invariants before PLC generation?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4590288"/>
            <a:ext cx="566928" cy="566928"/>
          </a:xfrm>
          <a:prstGeom prst="ellipse">
            <a:avLst/>
          </a:prstGeom>
          <a:solidFill>
            <a:srgbClr val="F1EBFA"/>
          </a:solidFill>
          <a:ln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4727447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71569D"/>
                </a:solidFill>
                <a:latin typeface="Cambria"/>
              </a:rPr>
              <a:t>RQ4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62855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71569D"/>
                </a:solidFill>
                <a:latin typeface="Cambria"/>
              </a:rPr>
              <a:t>Comparative effectiveness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562855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Does pre-synthesis auditing detect specification-level defects that may be missed by forward-generation or post-generation verification workflows?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320297"/>
            <a:ext cx="10332720" cy="5486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6695" y="5506698"/>
            <a:ext cx="1007668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Overall research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7" y="6053328"/>
            <a:ext cx="10113264" cy="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50">
                <a:solidFill>
                  <a:srgbClr val="2A303A"/>
                </a:solidFill>
                <a:latin typeface="Cambria"/>
              </a:rPr>
              <a:t>• Determine whether multimodal understanding + formal safety reasoning can provide an effective pre-synthesis auditing layer.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87552"/>
            <a:ext cx="1042416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0" i="1">
                <a:solidFill>
                  <a:srgbClr val="5C6572"/>
                </a:solidFill>
                <a:latin typeface="Cambria"/>
              </a:rPr>
              <a:t>From raw multimodal specification to engineer-reviewed verified rule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490472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1. Multimodal ingestion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1984248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2960" y="2258568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331720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2. Entity extraction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825496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3099816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3172968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3. Cross-modal linking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3666744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3941064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4014216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4. Knowledge graph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4507992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4782312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4855464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5. Control Rule 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17320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490472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6. Safety invariant engine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0" y="1984248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258568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45936" y="2331720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7. Z3 formal verification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0" y="2825496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09360" y="3099816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45936" y="3172968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8. Audit findings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86800" y="3666744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09360" y="3941064"/>
            <a:ext cx="4754880" cy="566928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45936" y="4014216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9. Engineer validation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86800" y="4507992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09360" y="4782312"/>
            <a:ext cx="4754880" cy="566928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45936" y="4855464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10. Verified rules → PLC code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486400"/>
            <a:ext cx="10332720" cy="438912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996695" y="5586983"/>
            <a:ext cx="1007668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Core research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7" y="6053328"/>
            <a:ext cx="10113264" cy="1828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Multimodal extraction • cross-modal linking • formal Rule IR • safety invariants • Z3 auditing • traceable findings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Methodology — Document Understanding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93008" cy="448056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1435608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1 — Multimodal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Read PDF text and layout.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Extract cause-and-effect/interlock tables.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Process P&amp;ID images and OCR tags.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Preserve page/section provenance.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493008" cy="448056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48428" y="1444752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2 — Neuro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Use Qwen 2.5 / Llama 3 or another selected local model.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Extract entities, attributes, relations and control rules.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Return structured JSON with confidence scores.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Do not invent unsupported source facts.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325880"/>
            <a:ext cx="3246120" cy="448056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1" y="1444752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3 — Cross-modal linking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783080"/>
            <a:ext cx="3026663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Match the same equipment across text, tables and diagrams.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Resolve tag references and naming variations.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Create one consistent asset identity.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Escalate unresolved ambiguity.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5216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Key output: grounded entities, relationships and source-linked engineering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Methodology — Formal Representation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93008" cy="448056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495422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4 — Knowledge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Represent sensors, variables, equipment and controllers as nodes.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Represent relationships such as measures, controls and connects.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Support cross-document reasoning and source traceability.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493008" cy="448056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1458468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5 — Control Rule 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Translate natural-language requirements into typed rules.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Example: Pressure ≥ 50 PSI → P-101 STOP.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Store condition, action, exception and source evidence.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Validate structure with Pydantic.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228735"/>
            <a:ext cx="3246120" cy="448056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1" y="1435608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6 — Safety invariant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783080"/>
            <a:ext cx="3026663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Load explicit safety properties.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Examples: high pressure → pump stop; ESD → motor stop.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Use these properties as the reference for formal auditing.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833872"/>
            <a:ext cx="1060704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70" b="1" i="0">
                <a:solidFill>
                  <a:srgbClr val="AA4949"/>
                </a:solidFill>
                <a:latin typeface="Cambria"/>
              </a:rPr>
              <a:t>Important: safety invariants come from engineering/domain knowledge or benchmark definitions; Z3 does not invent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Methodology — Audit, Review &amp; Synthesis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983480" cy="192024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39903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7 — Z3 formal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40">
                <a:solidFill>
                  <a:srgbClr val="2A303A"/>
                </a:solidFill>
                <a:latin typeface="Cambria"/>
              </a:rPr>
              <a:t>• Ask whether the formal model permits a state that violates a safety invariant.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325880"/>
            <a:ext cx="4983480" cy="19202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17336" y="139903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8 — Audit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8" y="1783080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40">
                <a:solidFill>
                  <a:srgbClr val="2A303A"/>
                </a:solidFill>
                <a:latin typeface="Cambria"/>
              </a:rPr>
              <a:t>• Convert formal results into engineer-readable findings with counterexamples and source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4983480" cy="19202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359359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9 — Engineer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977639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40">
                <a:solidFill>
                  <a:srgbClr val="2A303A"/>
                </a:solidFill>
                <a:latin typeface="Cambria"/>
              </a:rPr>
              <a:t>• Critical or low-confidence findings are reviewed before a rule is treated as verified.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520440"/>
            <a:ext cx="4983480" cy="19202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336" y="359359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10 — Verified rules → PLC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3977639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20">
                <a:solidFill>
                  <a:srgbClr val="2A303A"/>
                </a:solidFill>
                <a:latin typeface="Cambria"/>
              </a:rPr>
              <a:t>• Generate Structured Text from the engineer-reviewed rule set and validate in an appropriate PLC environment.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5216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The research core is the specification/model audit; PLC synthesis is a supporting downstream demonstration.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Worked Example — Z3 Formal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154680" cy="205740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816" y="1444752"/>
            <a:ext cx="28986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Safety property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2935224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>
                <a:solidFill>
                  <a:srgbClr val="2A303A"/>
                </a:solidFill>
                <a:latin typeface="Cambria"/>
              </a:rPr>
              <a:t>• Pressure ≥ 50 PSI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>
                <a:solidFill>
                  <a:srgbClr val="2A303A"/>
                </a:solidFill>
                <a:latin typeface="Cambria"/>
              </a:rPr>
              <a:t>• → Pump P-101 must NOT remain RUNNING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41648" y="1371600"/>
            <a:ext cx="3154680" cy="205740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9663" y="1444752"/>
            <a:ext cx="28986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Formal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376" y="1828800"/>
            <a:ext cx="2935224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30">
                <a:solidFill>
                  <a:srgbClr val="2A303A"/>
                </a:solidFill>
                <a:latin typeface="Cambria"/>
              </a:rPr>
              <a:t>• Pressure ≥ 50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30">
                <a:solidFill>
                  <a:srgbClr val="2A303A"/>
                </a:solidFill>
                <a:latin typeface="Cambria"/>
              </a:rPr>
              <a:t>• AND Pump = RUNNING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30">
                <a:solidFill>
                  <a:srgbClr val="2A303A"/>
                </a:solidFill>
                <a:latin typeface="Cambria"/>
              </a:rPr>
              <a:t>• Can both be true under the model?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88352" y="1371600"/>
            <a:ext cx="3840480" cy="205740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16368" y="1444752"/>
            <a:ext cx="3584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If 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828800"/>
            <a:ext cx="3621024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A violating state exists in the formal model.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Example: pressure = 55, pump = RUNNING.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Report as a potential specification safety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840480"/>
            <a:ext cx="10287000" cy="141732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5" y="3913632"/>
            <a:ext cx="100309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Key limitation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4297680"/>
            <a:ext cx="10067544" cy="8686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10">
                <a:solidFill>
                  <a:srgbClr val="2A303A"/>
                </a:solidFill>
                <a:latin typeface="Cambria"/>
              </a:rPr>
              <a:t>• Z3 proves the result for the formal model and assumptions provided. It does not prove that the original engineering document is complete, nor does it independently invent missing safety requirements.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23560"/>
            <a:ext cx="103327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SAT = violating state is possible  |  UNSAT = no such state under the current model and assumptions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Datasets &amp; Benchmark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7472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3" y="1435608"/>
            <a:ext cx="32186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Why a controlled benchmark?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552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Real industrial specifications are often confidential.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Controlled generation provides exact ground truth.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Known defects can be injected and reproduced.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24612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18305" y="1435608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Target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0266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40–60 specification packages.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Each package: control narrative + cause-and-effect table + simplified P&amp;ID.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Keep ~20% held out for development control / tuning.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325880"/>
            <a:ext cx="35204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40996" y="1435608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Defect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8975" y="1783080"/>
            <a:ext cx="33009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Missing shutdown rules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Missing interlocks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Contradictory rules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Tag mismatches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Cross-modal inconsistencies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Reachable unsafe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833872"/>
            <a:ext cx="1051560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Clean package → inject known defect → log ground truth → run baselines and proposed system → compare detection.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Implementation Architecture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234440"/>
            <a:ext cx="3794760" cy="420624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307592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Streamlit UI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06040" y="1655064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56232"/>
            <a:ext cx="3794760" cy="420624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929384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Python orchestration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2276856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3232" y="2478024"/>
            <a:ext cx="3794760" cy="420624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551176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Document processing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2898648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3232" y="3099816"/>
            <a:ext cx="3794760" cy="420624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172968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LLM extraction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06040" y="3520440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" y="3721608"/>
            <a:ext cx="3794760" cy="420624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794760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Rule IR + graph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06040" y="4142232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3232" y="4343400"/>
            <a:ext cx="3794760" cy="420624"/>
          </a:xfrm>
          <a:prstGeom prst="roundRect">
            <a:avLst/>
          </a:prstGeom>
          <a:solidFill>
            <a:srgbClr val="F1EBFA"/>
          </a:solidFill>
          <a:ln w="1270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4416552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Z3 audit engine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06040" y="4764024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3232" y="4965192"/>
            <a:ext cx="3794760" cy="420624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5038344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Report + PLC synthesis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1280160"/>
            <a:ext cx="6400800" cy="178308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28616" y="1353312"/>
            <a:ext cx="61447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Technology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1737360"/>
            <a:ext cx="6181344" cy="12344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PyMuPDF • pdfplumber / Camelot • OpenCV • Tesseract • Ollama • Qwen/Llama • Pydantic • NetworkX • Z3 • Jinja2 • OpenPLC/CODESYS • Streamlit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3246120"/>
            <a:ext cx="3063240" cy="201168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28616" y="3319272"/>
            <a:ext cx="28072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3703320"/>
            <a:ext cx="2843784" cy="1463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Parsing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Extraction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Normalization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Formalization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Audit orchestration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246120"/>
            <a:ext cx="3154680" cy="201168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74736" y="3319272"/>
            <a:ext cx="28986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Engineer-facing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3703320"/>
            <a:ext cx="2935224" cy="1463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Upload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Run audit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View findings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Inspect evidence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Download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Design principle: every research stage can be evaluated independently.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Implementation Results  —  What We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4434840"/>
          </a:xfrm>
          <a:prstGeom prst="roundRect">
            <a:avLst/>
          </a:prstGeom>
          <a:solidFill>
            <a:srgbClr val="ECF4FD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3291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9 Pipeline Phases  —  All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46504"/>
            <a:ext cx="3291840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Phase 1: Read PDFs, OCR P&amp;ID images, find tags  ✓</a:t>
            </a:r>
          </a:p>
          <a:p>
            <a:r>
              <a:rPr sz="1150">
                <a:solidFill>
                  <a:srgbClr val="2A303A"/>
                </a:solidFill>
              </a:rPr>
              <a:t>• Phase 2: Extract rules &amp; entities (Qwen 2.5 14B)  ✓</a:t>
            </a:r>
          </a:p>
          <a:p>
            <a:r>
              <a:rPr sz="1150">
                <a:solidFill>
                  <a:srgbClr val="2A303A"/>
                </a:solidFill>
              </a:rPr>
              <a:t>• Phase 3: Match tags across all 3 doc types  ✓</a:t>
            </a:r>
          </a:p>
          <a:p>
            <a:r>
              <a:rPr sz="1150">
                <a:solidFill>
                  <a:srgbClr val="2A303A"/>
                </a:solidFill>
              </a:rPr>
              <a:t>• Phase 4: Build equipment knowledge graph  ✓</a:t>
            </a:r>
          </a:p>
          <a:p>
            <a:r>
              <a:rPr sz="1150">
                <a:solidFill>
                  <a:srgbClr val="2A303A"/>
                </a:solidFill>
              </a:rPr>
              <a:t>• Phase 5: Convert rules to formal IR (Pydantic v2)  ✓</a:t>
            </a:r>
          </a:p>
          <a:p>
            <a:r>
              <a:rPr sz="1150">
                <a:solidFill>
                  <a:srgbClr val="2A303A"/>
                </a:solidFill>
              </a:rPr>
              <a:t>• Phase 6: Load 19 IEC 61511 safety rules  ✓</a:t>
            </a:r>
          </a:p>
          <a:p>
            <a:r>
              <a:rPr sz="1150">
                <a:solidFill>
                  <a:srgbClr val="2A303A"/>
                </a:solidFill>
              </a:rPr>
              <a:t>• Phase 7: Check rules with Z3 SMT solver  ✓</a:t>
            </a:r>
          </a:p>
          <a:p>
            <a:r>
              <a:rPr sz="1150">
                <a:solidFill>
                  <a:srgbClr val="2A303A"/>
                </a:solidFill>
              </a:rPr>
              <a:t>• Phase 8: Generate HTML audit report (Jinja2)  ✓</a:t>
            </a:r>
          </a:p>
          <a:p>
            <a:r>
              <a:rPr sz="1150">
                <a:solidFill>
                  <a:srgbClr val="2A303A"/>
                </a:solidFill>
              </a:rPr>
              <a:t>• Phase 9: Output IEC 61131-3 Structured Text 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246120" cy="4434840"/>
          </a:xfrm>
          <a:prstGeom prst="roundRect">
            <a:avLst/>
          </a:prstGeom>
          <a:solidFill>
            <a:srgbClr val="FCF4E2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44752"/>
            <a:ext cx="3063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Benchmark Dataset  —  50 Packages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46504"/>
            <a:ext cx="3063240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50 synthetic spec packages (seed = 42)</a:t>
            </a:r>
          </a:p>
          <a:p>
            <a:r>
              <a:rPr sz="1150">
                <a:solidFill>
                  <a:srgbClr val="2A303A"/>
                </a:solidFill>
              </a:rPr>
              <a:t>• Each: narrative + C&amp;E table + P&amp;ID</a:t>
            </a:r>
          </a:p>
          <a:p>
            <a:r>
              <a:rPr sz="1150">
                <a:solidFill>
                  <a:srgbClr val="2A303A"/>
                </a:solidFill>
              </a:rPr>
              <a:t>• 94 ground-truth defects injected:</a:t>
            </a:r>
          </a:p>
          <a:p>
            <a:r>
              <a:rPr sz="1150">
                <a:solidFill>
                  <a:srgbClr val="2A303A"/>
                </a:solidFill>
              </a:rPr>
              <a:t>    Missing Shutdown Rule:   25</a:t>
            </a:r>
          </a:p>
          <a:p>
            <a:r>
              <a:rPr sz="1150">
                <a:solidFill>
                  <a:srgbClr val="2A303A"/>
                </a:solidFill>
              </a:rPr>
              <a:t>    Missing Alarm:               21</a:t>
            </a:r>
          </a:p>
          <a:p>
            <a:r>
              <a:rPr sz="1150">
                <a:solidFill>
                  <a:srgbClr val="2A303A"/>
                </a:solidFill>
              </a:rPr>
              <a:t>    Tag Mismatch:               19</a:t>
            </a:r>
          </a:p>
          <a:p>
            <a:r>
              <a:rPr sz="1150">
                <a:solidFill>
                  <a:srgbClr val="2A303A"/>
                </a:solidFill>
              </a:rPr>
              <a:t>    Contradiction:               15</a:t>
            </a:r>
          </a:p>
          <a:p>
            <a:r>
              <a:rPr sz="1150">
                <a:solidFill>
                  <a:srgbClr val="2A303A"/>
                </a:solidFill>
              </a:rPr>
              <a:t>    Missing Interlock:          14</a:t>
            </a:r>
          </a:p>
          <a:p>
            <a:r>
              <a:rPr sz="1150">
                <a:solidFill>
                  <a:srgbClr val="2A303A"/>
                </a:solidFill>
              </a:rPr>
              <a:t>• Standards: IEC 61511, OSHA PSM,</a:t>
            </a:r>
          </a:p>
          <a:p>
            <a:r>
              <a:rPr sz="1150">
                <a:solidFill>
                  <a:srgbClr val="2A303A"/>
                </a:solidFill>
              </a:rPr>
              <a:t>    EPA RMP, NIST SP800-82, HSE HSG254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25880"/>
            <a:ext cx="3520440" cy="4434840"/>
          </a:xfrm>
          <a:prstGeom prst="roundRect">
            <a:avLst/>
          </a:prstGeom>
          <a:solidFill>
            <a:srgbClr val="EAF6EC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44752"/>
            <a:ext cx="3337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Results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46504"/>
            <a:ext cx="3337560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Precision:     0.960  (96 out of 100 alerts are real)</a:t>
            </a:r>
          </a:p>
          <a:p>
            <a:r>
              <a:rPr sz="1150">
                <a:solidFill>
                  <a:srgbClr val="2A303A"/>
                </a:solidFill>
              </a:rPr>
              <a:t>• Recall:          0.880  (finds 88% of all problems)</a:t>
            </a:r>
          </a:p>
          <a:p>
            <a:r>
              <a:rPr sz="1150">
                <a:solidFill>
                  <a:srgbClr val="2A303A"/>
                </a:solidFill>
              </a:rPr>
              <a:t>• F1 Score:       0.918  (overall system quality)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LLM-Only baseline:       F1 = 0.725</a:t>
            </a:r>
          </a:p>
          <a:p>
            <a:r>
              <a:rPr sz="1150">
                <a:solidFill>
                  <a:srgbClr val="2A303A"/>
                </a:solidFill>
              </a:rPr>
              <a:t>• Our system:                  F1 = 0.918</a:t>
            </a:r>
          </a:p>
          <a:p>
            <a:r>
              <a:rPr sz="1150">
                <a:solidFill>
                  <a:srgbClr val="2A303A"/>
                </a:solidFill>
              </a:rPr>
              <a:t>• Improvement:               +19.3 pp over baseline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Best category: Contradiction (0% false alarms)</a:t>
            </a:r>
          </a:p>
          <a:p>
            <a:r>
              <a:rPr sz="1150">
                <a:solidFill>
                  <a:srgbClr val="2A303A"/>
                </a:solidFill>
              </a:rPr>
              <a:t>• Total runtime on PKG-001: ~5.4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All 9 phases built and tested end-to-end  ·  50-package synthetic benchmark  ·  5 industrial safety standards loaded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Evaluation Metrics &amp; Experimental Design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16152"/>
          <a:ext cx="109270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mbria"/>
                        </a:rPr>
                        <a:t>Aspect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mbria"/>
                        </a:rPr>
                        <a:t>Metrics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mbria"/>
                        </a:rPr>
                        <a:t>Purpose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Entity / relation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Precision, Recall,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Extraction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Rule / IR correctness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Condition, Action, Entity accuracy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Faithfulness of structured rules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Safety-defect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Precision, Recall, F1, FP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Ability to identify known safety defects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Contradiction / consistency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Precision, Recall, F1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Detection of conflicting or mismatched information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Traceability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Evidence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Link from finding to source page/section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System performance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Processing time, verification time, scalability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Practical cost as model size grows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PLC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Syntax, compilation, functional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Validity of downstream code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" y="5833872"/>
            <a:ext cx="1051560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Baselines: LLM-only audit/extraction, forward PLC generation, and post-generation verification.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SDG Mapping with Justification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434340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" y="139903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SDG 9 — Industry, Innovation &amp;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Applies AI and formal verification to industrial automation.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Supports digital transformation of engineering workflows.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Moves verification earlier in the control-development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383280" cy="434340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8" y="140549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SDG 3 — Good Health &amp; Well-Being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Earlier identification of safety-critical specification defects may reduce risk to workers and the public.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Positioned as decision support, not safety certification.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325880"/>
            <a:ext cx="3291840" cy="434340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3588" y="1399032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SDG 12 — Responsible Consumption &amp;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1783080"/>
            <a:ext cx="307238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Safer control specifications can reduce process failures, rework and waste.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Earlier defect detection can reduce correction cost.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50" b="0" i="0">
                <a:solidFill>
                  <a:srgbClr val="5C6572"/>
                </a:solidFill>
                <a:latin typeface="Cambria"/>
              </a:rPr>
              <a:t>Mapping is proposed for review and should be confirmed against institutional guidance.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Project Plan — Semester 3 (Gantt Chart)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92024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50" b="1" i="0">
                <a:solidFill>
                  <a:srgbClr val="1F406C"/>
                </a:solidFill>
                <a:latin typeface="Cambria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5409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499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7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678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126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325880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Literature + dataset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5409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6499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75887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98678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9768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0857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1947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23036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54126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85216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6305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7395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78484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09574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40664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71753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2843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3932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65022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96112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27201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58291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89380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1353312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054096" y="1353312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5800" y="1755648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PDF/OCR/table extraction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05409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36499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675887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98678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29768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60857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91947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23036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54126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85216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16305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47395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78484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09574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40664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771753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02843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33932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65022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96112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27201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58291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89380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364992" y="1783080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675887" y="1783080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5800" y="2185415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LLM + Rule IR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05409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36499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675887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98678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29768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60857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491947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523036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54126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585216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16305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47395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78484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709574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40664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771753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02843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33932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65022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96112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27201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958291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989380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3986784" y="2212847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4297680" y="2212847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85800" y="2615184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Cross-modal linking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4320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305409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336499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3675887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398678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429768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460857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491947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523036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554126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585216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616305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647395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678484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709574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740664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771753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802843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833932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865022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896112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927201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958291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989380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608576" y="2642615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919472" y="2642615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85800" y="3044952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Safety invariants + Z3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305409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336499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3675887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398678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429768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460857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491947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523036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554126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585216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16305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47395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709574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40664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71753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802843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33932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865022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896112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927201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958291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989380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5230368" y="3072384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5541264" y="3072384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85800" y="3474720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Dashboard + reporting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74320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305409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336499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3675887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398678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429768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460857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491947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523036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554126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585216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616305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647395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678484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709574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740664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771753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802843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833932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865022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896112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927201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958291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989380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5852160" y="3502151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6163056" y="3502151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85800" y="3904487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Benchmark + baselines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74320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305409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336499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3675887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398678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429768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460857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491947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523036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554126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585216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616305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647395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678484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709574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740664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771753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802843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833932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865022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896112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927201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958291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989380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6473952" y="3931920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6784848" y="3931920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685800" y="4334256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PLC synthesis demo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74320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305409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336499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3675887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398678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429768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460857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491947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523036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554126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585216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616305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647395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678484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709574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740664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771753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802843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833932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865022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896112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927201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958291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989380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7095744" y="4361688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7406640" y="4361688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685800" y="4764024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Full evaluation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74320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305409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336499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3675887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398678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ctangle 250"/>
          <p:cNvSpPr/>
          <p:nvPr/>
        </p:nvSpPr>
        <p:spPr>
          <a:xfrm>
            <a:off x="429768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460857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491947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523036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554126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585216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616305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647395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678484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709574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740664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771753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802843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833932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865022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896112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927201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958291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989380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7717536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/>
          <p:cNvSpPr/>
          <p:nvPr/>
        </p:nvSpPr>
        <p:spPr>
          <a:xfrm>
            <a:off x="8028432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8339328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ctangle 272"/>
          <p:cNvSpPr/>
          <p:nvPr/>
        </p:nvSpPr>
        <p:spPr>
          <a:xfrm>
            <a:off x="8650224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685800" y="5193792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Paper + thesis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274320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Rectangle 275"/>
          <p:cNvSpPr/>
          <p:nvPr/>
        </p:nvSpPr>
        <p:spPr>
          <a:xfrm>
            <a:off x="305409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ectangle 276"/>
          <p:cNvSpPr/>
          <p:nvPr/>
        </p:nvSpPr>
        <p:spPr>
          <a:xfrm>
            <a:off x="336499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3675887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398678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Rectangle 279"/>
          <p:cNvSpPr/>
          <p:nvPr/>
        </p:nvSpPr>
        <p:spPr>
          <a:xfrm>
            <a:off x="429768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ectangle 280"/>
          <p:cNvSpPr/>
          <p:nvPr/>
        </p:nvSpPr>
        <p:spPr>
          <a:xfrm>
            <a:off x="460857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Rectangle 281"/>
          <p:cNvSpPr/>
          <p:nvPr/>
        </p:nvSpPr>
        <p:spPr>
          <a:xfrm>
            <a:off x="491947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Rectangle 282"/>
          <p:cNvSpPr/>
          <p:nvPr/>
        </p:nvSpPr>
        <p:spPr>
          <a:xfrm>
            <a:off x="523036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Rectangle 283"/>
          <p:cNvSpPr/>
          <p:nvPr/>
        </p:nvSpPr>
        <p:spPr>
          <a:xfrm>
            <a:off x="554126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585216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Rectangle 285"/>
          <p:cNvSpPr/>
          <p:nvPr/>
        </p:nvSpPr>
        <p:spPr>
          <a:xfrm>
            <a:off x="616305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Rectangle 286"/>
          <p:cNvSpPr/>
          <p:nvPr/>
        </p:nvSpPr>
        <p:spPr>
          <a:xfrm>
            <a:off x="647395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Rectangle 287"/>
          <p:cNvSpPr/>
          <p:nvPr/>
        </p:nvSpPr>
        <p:spPr>
          <a:xfrm>
            <a:off x="678484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709574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Rectangle 289"/>
          <p:cNvSpPr/>
          <p:nvPr/>
        </p:nvSpPr>
        <p:spPr>
          <a:xfrm>
            <a:off x="740664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Rectangle 290"/>
          <p:cNvSpPr/>
          <p:nvPr/>
        </p:nvSpPr>
        <p:spPr>
          <a:xfrm>
            <a:off x="771753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802843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833932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Rectangle 293"/>
          <p:cNvSpPr/>
          <p:nvPr/>
        </p:nvSpPr>
        <p:spPr>
          <a:xfrm>
            <a:off x="865022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Rectangle 294"/>
          <p:cNvSpPr/>
          <p:nvPr/>
        </p:nvSpPr>
        <p:spPr>
          <a:xfrm>
            <a:off x="896112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ectangle 295"/>
          <p:cNvSpPr/>
          <p:nvPr/>
        </p:nvSpPr>
        <p:spPr>
          <a:xfrm>
            <a:off x="927201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958291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Rectangle 297"/>
          <p:cNvSpPr/>
          <p:nvPr/>
        </p:nvSpPr>
        <p:spPr>
          <a:xfrm>
            <a:off x="989380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Rectangle 298"/>
          <p:cNvSpPr/>
          <p:nvPr/>
        </p:nvSpPr>
        <p:spPr>
          <a:xfrm>
            <a:off x="8961120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ectangle 299"/>
          <p:cNvSpPr/>
          <p:nvPr/>
        </p:nvSpPr>
        <p:spPr>
          <a:xfrm>
            <a:off x="9272016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Rectangle 300"/>
          <p:cNvSpPr/>
          <p:nvPr/>
        </p:nvSpPr>
        <p:spPr>
          <a:xfrm>
            <a:off x="9582912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Rectangle 301"/>
          <p:cNvSpPr/>
          <p:nvPr/>
        </p:nvSpPr>
        <p:spPr>
          <a:xfrm>
            <a:off x="9893808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777240" y="571500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0" i="0">
                <a:solidFill>
                  <a:srgbClr val="5C6572"/>
                </a:solidFill>
                <a:latin typeface="Cambria"/>
              </a:rPr>
              <a:t>Working timeline; adjust after dataset and implementation milestones are confirmed.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Domain Expertise Course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25880"/>
            <a:ext cx="507492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61872" y="1430658"/>
            <a:ext cx="481888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Domain expertise course — planned /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5546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Industrial Automation / PLC / SCADA fundamentals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PLC architecture and IEC 61131-3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Structured Text and interlocks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P&amp;ID interpretation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Sensors, actuators and control loops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Industrial safety concepts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599" y="1349118"/>
            <a:ext cx="51206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3512" y="1399032"/>
            <a:ext cx="486460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Domain-learning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3056" y="1783080"/>
            <a:ext cx="490118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Understand industrial automation, PLC/SCADA workflows and control loops.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Interpret P&amp;ID symbols, sensors, actuators and interlocks.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Relate IEC 61131-3 programming concepts to Structured Text.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Build sufficient domain knowledge to define meaningful safety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52160"/>
            <a:ext cx="1042416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Goal: combine research/software skills with sufficient industrial-domain knowledge to define meaningful safety properties.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Technical Enrichment Activities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434340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" y="139903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1. Research &amp;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Read recent work on LLM-based PLC generation, formal verification and industrial AI.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Compare generation, verification and pre-synthesis auditing approaches.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Record research gaps and connect them to the project methodology.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383280" cy="434340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8" y="140549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2. Z3 / Formal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Practice constraints, invariants and SAT/UNSAT reasoning.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Model safety properties and inspect violating states/counterexamples.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Understand the limits of formal results under stated assumptions.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325880"/>
            <a:ext cx="3291840" cy="434340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3588" y="1399032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3. PLC / Automation Hands-on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1783080"/>
            <a:ext cx="307238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Practice IEC 61131-3 Structured Text and basic interlocks.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Explore PLC/automation workflows with pump and valve control examples.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Strengthen P&amp;ID-to-control-logic interpretation skills.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50" b="0" i="0">
                <a:solidFill>
                  <a:srgbClr val="5C6572"/>
                </a:solidFill>
                <a:latin typeface="Cambria"/>
              </a:rPr>
              <a:t>Outcome: strengthen the bridge between research/software implementation and industrial-domain reasoning.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Expected Contributions, Scope &amp; Risks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7472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399032"/>
            <a:ext cx="32186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Expected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552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Multimodal specification extraction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Cross-modal entity grounding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Formal Control Rule IR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Curated safety-invariant representation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Z3-based pre-synthesis audit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Traceable evidence-linked findings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29184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43983" y="1399032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Scope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1783080"/>
            <a:ext cx="30723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Audit against explicit safety properties.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Use human review for critical findings.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PLC synthesis is downstream support.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No claim of complete plant safety or universal omission discovery.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325880"/>
            <a:ext cx="342900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0416" y="1399032"/>
            <a:ext cx="31729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Risks &amp; mitigation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1783080"/>
            <a:ext cx="320954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LLM/OCR errors → confidence + grounding.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Limited real data → controlled benchmark.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False positives → evaluation + review.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Formal-model mismatch → source traceability.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Scalability → subsystem-first evaluation.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5216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10" b="1" i="0">
                <a:solidFill>
                  <a:srgbClr val="AA4949"/>
                </a:solidFill>
                <a:latin typeface="Cambria"/>
              </a:rPr>
              <a:t>Primary research contribution under investigation: an evaluated pre-synthesis specification-audit workflow.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500" b="1" i="0">
                <a:solidFill>
                  <a:srgbClr val="1F406C"/>
                </a:solidFill>
                <a:latin typeface="Cambria"/>
              </a:rPr>
              <a:t>Move safety-oriented reasoning upstream — from generated PLC code to the specification/model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828800" cy="566928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Extract multimodal information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2432304"/>
            <a:ext cx="274320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53512" y="2148840"/>
            <a:ext cx="1828800" cy="566928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0088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Formalize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Create structured control rules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82312" y="2432304"/>
            <a:ext cx="274319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9783" y="2148840"/>
            <a:ext cx="1828800" cy="566928"/>
          </a:xfrm>
          <a:prstGeom prst="roundRect">
            <a:avLst/>
          </a:prstGeom>
          <a:solidFill>
            <a:srgbClr val="F1EBFA"/>
          </a:solidFill>
          <a:ln w="1270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59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3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Check safety properties with Z3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58583" y="2432304"/>
            <a:ext cx="274320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06055" y="2148840"/>
            <a:ext cx="1828800" cy="566928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42631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5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Engineer validates findings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34855" y="2432304"/>
            <a:ext cx="274321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82328" y="2148840"/>
            <a:ext cx="1828800" cy="566928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18903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Produce downstream PLC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160520"/>
            <a:ext cx="10287000" cy="12344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5" y="4233672"/>
            <a:ext cx="100309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Final research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617720"/>
            <a:ext cx="10067544" cy="6858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We will evaluate whether multimodal specification understanding plus formal safety reasoning can identify specification-level defects before PLC synthesis and provide traceable evidence for engineering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623560"/>
            <a:ext cx="21945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600" b="1" i="0">
                <a:solidFill>
                  <a:srgbClr val="1F406C"/>
                </a:solidFill>
                <a:latin typeface="Cambria"/>
              </a:rPr>
              <a:t>Thank you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526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1. Vogel et al., “Automated Generation of Modular PLC Control Software from P&amp;ID Diagrams in Process Industry,” INDIN, 2014.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2. “Automatic Test of Safety Specifications for PLC Programs in the Oil and Gas Industry,” IFAC-PapersOnLine, 2015.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3. Ljungkrantz et al., “Formal Specification and Verification of Industrial Control Logic Components,” IEEE TASE, 2010.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4. Fakih et al., “LLM4PLC: Harnessing Large Language Models for Verifiable Programming of PLCs in Industrial Control Systems,” 2024.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5. Liu et al., “Agents4PLC: Automating Closed-loop PLC Code Generation and Verification in Industrial Control Systems using LLM-based Agents,” 2024.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6. “Automatic assertion generation with LLM for ICS program verification,” Journal of Systems and Software, 2026.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7. de Moura, L. and Bjørner, N., “Z3: An Efficient SMT Solver,” TACAS, 2008.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8. IEC 61131-3, Programmable Controllers — Part 3: Programming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0" i="0">
                <a:solidFill>
                  <a:srgbClr val="5C6572"/>
                </a:solidFill>
                <a:latin typeface="Cambria"/>
              </a:rPr>
              <a:t>Final bibliographic details should be checked against the publisher/official source before submission.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System in Action  —  Live Pipeline Run on PKG-001</a:t>
            </a:r>
          </a:p>
        </p:txBody>
      </p:sp>
      <p:pic>
        <p:nvPicPr>
          <p:cNvPr id="4" name="Picture 3" descr="sc_pipeline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77240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371600"/>
            <a:ext cx="7772400" cy="4663440"/>
          </a:xfrm>
          <a:prstGeom prst="roundRect">
            <a:avLst/>
          </a:prstGeom>
          <a:noFill/>
          <a:ln w="15875">
            <a:solidFill>
              <a:srgbClr val="9BB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49640" y="1371600"/>
            <a:ext cx="3291840" cy="4663440"/>
          </a:xfrm>
          <a:prstGeom prst="roundRect">
            <a:avLst/>
          </a:prstGeom>
          <a:solidFill>
            <a:srgbClr val="EAF6EC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49047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What This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1792224"/>
            <a:ext cx="3108960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Input: PKG-001</a:t>
            </a:r>
          </a:p>
          <a:p>
            <a:r>
              <a:rPr sz="1150">
                <a:solidFill>
                  <a:srgbClr val="2A303A"/>
                </a:solidFill>
              </a:rPr>
              <a:t>    Pump pressure loop spec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9 phases ran successfully</a:t>
            </a:r>
          </a:p>
          <a:p>
            <a:r>
              <a:rPr sz="1150">
                <a:solidFill>
                  <a:srgbClr val="2A303A"/>
                </a:solidFill>
              </a:rPr>
              <a:t>• 7 safety issues detected:</a:t>
            </a:r>
          </a:p>
          <a:p>
            <a:r>
              <a:rPr sz="1150">
                <a:solidFill>
                  <a:srgbClr val="2A303A"/>
                </a:solidFill>
              </a:rPr>
              <a:t>    3 HIGH severity</a:t>
            </a:r>
          </a:p>
          <a:p>
            <a:r>
              <a:rPr sz="1150">
                <a:solidFill>
                  <a:srgbClr val="2A303A"/>
                </a:solidFill>
              </a:rPr>
              <a:t>    3 MEDIUM severity</a:t>
            </a:r>
          </a:p>
          <a:p>
            <a:r>
              <a:rPr sz="1150">
                <a:solidFill>
                  <a:srgbClr val="2A303A"/>
                </a:solidFill>
              </a:rPr>
              <a:t>    1 LOW severity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Phase 2 (LLM):  4.12 s</a:t>
            </a:r>
          </a:p>
          <a:p>
            <a:r>
              <a:rPr sz="1150">
                <a:solidFill>
                  <a:srgbClr val="2A303A"/>
                </a:solidFill>
              </a:rPr>
              <a:t>• Phase 7 (Z3):   0.44 s</a:t>
            </a:r>
          </a:p>
          <a:p>
            <a:r>
              <a:rPr sz="1150">
                <a:solidFill>
                  <a:srgbClr val="2A303A"/>
                </a:solidFill>
              </a:rPr>
              <a:t>• Total time:      ~5.4 s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Outputs:</a:t>
            </a:r>
          </a:p>
          <a:p>
            <a:r>
              <a:rPr sz="1150">
                <a:solidFill>
                  <a:srgbClr val="2A303A"/>
                </a:solidFill>
              </a:rPr>
              <a:t>    HTML audit report</a:t>
            </a:r>
          </a:p>
          <a:p>
            <a:r>
              <a:rPr sz="1150">
                <a:solidFill>
                  <a:srgbClr val="2A303A"/>
                </a:solidFill>
              </a:rPr>
              <a:t>    IEC 61131-3 PLC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PKG-001: pump + pressure transmitter + shutoff valve  ·  7 findings: 3 OMISSION + 3 CONTRADICTION + 1 TAG_MISMATCH  ·  All formally verified by Z3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Detection Performance  —  Benchmark Metrics Dashboard</a:t>
            </a:r>
          </a:p>
        </p:txBody>
      </p:sp>
      <p:pic>
        <p:nvPicPr>
          <p:cNvPr id="4" name="Picture 3" descr="sc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84124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353312"/>
            <a:ext cx="8412480" cy="4663440"/>
          </a:xfrm>
          <a:prstGeom prst="roundRect">
            <a:avLst/>
          </a:prstGeom>
          <a:noFill/>
          <a:ln w="15875">
            <a:solidFill>
              <a:srgbClr val="9BB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98280" y="1353312"/>
            <a:ext cx="2743200" cy="4663440"/>
          </a:xfrm>
          <a:prstGeom prst="roundRect">
            <a:avLst/>
          </a:prstGeom>
          <a:solidFill>
            <a:srgbClr val="ECF4FD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89720" y="1472184"/>
            <a:ext cx="2560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Key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773936"/>
            <a:ext cx="2560320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Overall:</a:t>
            </a:r>
          </a:p>
          <a:p>
            <a:r>
              <a:rPr sz="1150">
                <a:solidFill>
                  <a:srgbClr val="2A303A"/>
                </a:solidFill>
              </a:rPr>
              <a:t>  P = 0.960</a:t>
            </a:r>
          </a:p>
          <a:p>
            <a:r>
              <a:rPr sz="1150">
                <a:solidFill>
                  <a:srgbClr val="2A303A"/>
                </a:solidFill>
              </a:rPr>
              <a:t>  R = 0.880</a:t>
            </a:r>
          </a:p>
          <a:p>
            <a:r>
              <a:rPr sz="1150">
                <a:solidFill>
                  <a:srgbClr val="2A303A"/>
                </a:solidFill>
              </a:rPr>
              <a:t>  F1 = 0.918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Per Category F1:</a:t>
            </a:r>
          </a:p>
          <a:p>
            <a:r>
              <a:rPr sz="1150">
                <a:solidFill>
                  <a:srgbClr val="2A303A"/>
                </a:solidFill>
              </a:rPr>
              <a:t>  Shutdown: 0.940</a:t>
            </a:r>
          </a:p>
          <a:p>
            <a:r>
              <a:rPr sz="1150">
                <a:solidFill>
                  <a:srgbClr val="2A303A"/>
                </a:solidFill>
              </a:rPr>
              <a:t>  Contradict: 0.931</a:t>
            </a:r>
          </a:p>
          <a:p>
            <a:r>
              <a:rPr sz="1150">
                <a:solidFill>
                  <a:srgbClr val="2A303A"/>
                </a:solidFill>
              </a:rPr>
              <a:t>  Interlock: 0.914</a:t>
            </a:r>
          </a:p>
          <a:p>
            <a:r>
              <a:rPr sz="1150">
                <a:solidFill>
                  <a:srgbClr val="2A303A"/>
                </a:solidFill>
              </a:rPr>
              <a:t>  Tag Mismatch: 0.929</a:t>
            </a:r>
          </a:p>
          <a:p>
            <a:r>
              <a:rPr sz="1150">
                <a:solidFill>
                  <a:srgbClr val="2A303A"/>
                </a:solidFill>
              </a:rPr>
              <a:t>  Alarm: 0.894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50 packages,</a:t>
            </a:r>
          </a:p>
          <a:p>
            <a:r>
              <a:rPr sz="1150">
                <a:solidFill>
                  <a:srgbClr val="2A303A"/>
                </a:solidFill>
              </a:rPr>
              <a:t>94 ground-truth</a:t>
            </a:r>
          </a:p>
          <a:p>
            <a:r>
              <a:rPr sz="1150">
                <a:solidFill>
                  <a:srgbClr val="2A303A"/>
                </a:solidFill>
              </a:rPr>
              <a:t>defects injected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Live dashboard screenshot from the Safety Auditor Streamlit app  ·  50-package benchmark, seed=42  ·  Precision / Recall / F1 per defect category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Our System vs Other Approaches  —  Why Pre-Synthesis Auditing Matters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25880"/>
          <a:ext cx="7040880" cy="2606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1252728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406C"/>
                </a:solidFill>
              </a:rPr>
              <a:t>System Comparison  (Precision / Recall / F1)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4133087"/>
          <a:ext cx="7040880" cy="235000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059936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406C"/>
                </a:solidFill>
              </a:rPr>
              <a:t>Ablation Study  (Cross-Modal Entity Linking ON vs OFF)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4114800" cy="2606040"/>
          </a:xfrm>
          <a:prstGeom prst="roundRect">
            <a:avLst/>
          </a:prstGeom>
          <a:solidFill>
            <a:srgbClr val="FCF4E2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444752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Why Our Approach Is Better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1746504"/>
            <a:ext cx="393192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Baseline checks PLC code AFTER</a:t>
            </a:r>
          </a:p>
          <a:p>
            <a:r>
              <a:rPr sz="1150">
                <a:solidFill>
                  <a:srgbClr val="2A303A"/>
                </a:solidFill>
              </a:rPr>
              <a:t>  it is generated (too late).</a:t>
            </a:r>
          </a:p>
          <a:p>
            <a:r>
              <a:rPr sz="1150">
                <a:solidFill>
                  <a:srgbClr val="2A303A"/>
                </a:solidFill>
              </a:rPr>
              <a:t>  F1 = 0.725  (−19.3 pp behind us)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We check the SPECIFICATION</a:t>
            </a:r>
          </a:p>
          <a:p>
            <a:r>
              <a:rPr sz="1150">
                <a:solidFill>
                  <a:srgbClr val="2A303A"/>
                </a:solidFill>
              </a:rPr>
              <a:t>  before code is written (earlier,</a:t>
            </a:r>
          </a:p>
          <a:p>
            <a:r>
              <a:rPr sz="1150">
                <a:solidFill>
                  <a:srgbClr val="2A303A"/>
                </a:solidFill>
              </a:rPr>
              <a:t>  fewer changes needed).</a:t>
            </a:r>
          </a:p>
          <a:p>
            <a:r>
              <a:rPr sz="1150">
                <a:solidFill>
                  <a:srgbClr val="2A303A"/>
                </a:solidFill>
              </a:rPr>
              <a:t>  F1 = 0.918  (best result)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Improvement: +19.3 pp F1,</a:t>
            </a:r>
          </a:p>
          <a:p>
            <a:r>
              <a:rPr sz="1150">
                <a:solidFill>
                  <a:srgbClr val="2A303A"/>
                </a:solidFill>
              </a:rPr>
              <a:t>  +23.0 pp Recall over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4133087"/>
            <a:ext cx="4114800" cy="2350008"/>
          </a:xfrm>
          <a:prstGeom prst="roundRect">
            <a:avLst/>
          </a:prstGeom>
          <a:solidFill>
            <a:srgbClr val="EAF6EC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4251959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Impact of Cross-Modal Linking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19" y="4553711"/>
            <a:ext cx="3931920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Without linking: F1 = 0.803</a:t>
            </a:r>
          </a:p>
          <a:p>
            <a:r>
              <a:rPr sz="1150">
                <a:solidFill>
                  <a:srgbClr val="2A303A"/>
                </a:solidFill>
              </a:rPr>
              <a:t>• With linking:     F1 = 0.918</a:t>
            </a:r>
          </a:p>
          <a:p>
            <a:r>
              <a:rPr sz="1150">
                <a:solidFill>
                  <a:srgbClr val="2A303A"/>
                </a:solidFill>
              </a:rPr>
              <a:t>• Recall improves: +18.0 pp</a:t>
            </a:r>
          </a:p>
          <a:p>
            <a:r>
              <a:rPr sz="1150">
                <a:solidFill>
                  <a:srgbClr val="2A303A"/>
                </a:solidFill>
              </a:rPr>
              <a:t>  (finds 180 more problems</a:t>
            </a:r>
          </a:p>
          <a:p>
            <a:r>
              <a:rPr sz="1150">
                <a:solidFill>
                  <a:srgbClr val="2A303A"/>
                </a:solidFill>
              </a:rPr>
              <a:t>   per 1000 injections)</a:t>
            </a:r>
          </a:p>
          <a:p>
            <a:r>
              <a:rPr sz="1150">
                <a:solidFill>
                  <a:srgbClr val="2A303A"/>
                </a:solidFill>
              </a:rPr>
              <a:t>• H2 strongly supported (&gt; 0.02)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Baseline = post-generation LLM verification on the same 50-package benchmark  ·  Ablation removes cross-modal tag matching (Phase 3)  ·  H2: linking improves recall (hypothesis confirmed)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Real Example  —  A Missing Safety Rule Found by the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4663440"/>
          </a:xfrm>
          <a:prstGeom prst="roundRect">
            <a:avLst/>
          </a:prstGeom>
          <a:solidFill>
            <a:srgbClr val="FCF4E2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90472"/>
            <a:ext cx="5212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What the Specification Said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92224"/>
            <a:ext cx="521208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A303A"/>
                </a:solidFill>
              </a:rPr>
              <a:t>Document: Control Narrative, Page 4</a:t>
            </a:r>
          </a:p>
          <a:p>
            <a:r>
              <a:rPr sz="1100">
                <a:solidFill>
                  <a:srgbClr val="2A303A"/>
                </a:solidFill>
              </a:rPr>
              <a:t>Section: Pump Protection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Rule R-0001 extracted by Phase 2:</a:t>
            </a:r>
          </a:p>
          <a:p>
            <a:r>
              <a:rPr sz="1100">
                <a:solidFill>
                  <a:srgbClr val="2A303A"/>
                </a:solidFill>
              </a:rPr>
              <a:t>  "If pressure sensor PT-101 is HIGH,</a:t>
            </a:r>
          </a:p>
          <a:p>
            <a:r>
              <a:rPr sz="1100">
                <a:solidFill>
                  <a:srgbClr val="2A303A"/>
                </a:solidFill>
              </a:rPr>
              <a:t>   monitor pump P-001 condition."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  Confidence: 0.89  (LLM extraction)</a:t>
            </a:r>
          </a:p>
          <a:p>
            <a:r>
              <a:rPr sz="1100">
                <a:solidFill>
                  <a:srgbClr val="2A303A"/>
                </a:solidFill>
              </a:rPr>
              <a:t>  Modality: narrative text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What is MISSING:</a:t>
            </a:r>
          </a:p>
          <a:p>
            <a:r>
              <a:rPr sz="1100">
                <a:solidFill>
                  <a:srgbClr val="2A303A"/>
                </a:solidFill>
              </a:rPr>
              <a:t>  No action defined for HIGH-HIGH (HH)</a:t>
            </a:r>
          </a:p>
          <a:p>
            <a:r>
              <a:rPr sz="1100">
                <a:solidFill>
                  <a:srgbClr val="2A303A"/>
                </a:solidFill>
              </a:rPr>
              <a:t>  level (PT-101 &gt;= 60 bar).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  IEC 61511-1 §10.3.2 requires that a</a:t>
            </a:r>
          </a:p>
          <a:p>
            <a:r>
              <a:rPr sz="1100">
                <a:solidFill>
                  <a:srgbClr val="2A303A"/>
                </a:solidFill>
              </a:rPr>
              <a:t>  High-High pressure level must trigger</a:t>
            </a:r>
          </a:p>
          <a:p>
            <a:r>
              <a:rPr sz="1100">
                <a:solidFill>
                  <a:srgbClr val="2A303A"/>
                </a:solidFill>
              </a:rPr>
              <a:t>  automatic pump shutdown.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  The specification only says 'monitor'</a:t>
            </a:r>
          </a:p>
          <a:p>
            <a:r>
              <a:rPr sz="1100">
                <a:solidFill>
                  <a:srgbClr val="2A303A"/>
                </a:solidFill>
              </a:rPr>
              <a:t>  — it never says STOP the pump.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623560" cy="4663440"/>
          </a:xfrm>
          <a:prstGeom prst="roundRect">
            <a:avLst/>
          </a:prstGeom>
          <a:solidFill>
            <a:srgbClr val="ECF4FD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90472"/>
            <a:ext cx="5440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What the System Detected (Phase 7 — Z3)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92224"/>
            <a:ext cx="544068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A303A"/>
                </a:solidFill>
              </a:rPr>
              <a:t>Finding ID:     F-a7c2e1</a:t>
            </a:r>
          </a:p>
          <a:p>
            <a:r>
              <a:rPr sz="1100">
                <a:solidFill>
                  <a:srgbClr val="2A303A"/>
                </a:solidFill>
              </a:rPr>
              <a:t>Type:             OMISSION</a:t>
            </a:r>
          </a:p>
          <a:p>
            <a:r>
              <a:rPr sz="1100">
                <a:solidFill>
                  <a:srgbClr val="2A303A"/>
                </a:solidFill>
              </a:rPr>
              <a:t>Severity:         HIGH</a:t>
            </a:r>
          </a:p>
          <a:p>
            <a:r>
              <a:rPr sz="1100">
                <a:solidFill>
                  <a:srgbClr val="2A303A"/>
                </a:solidFill>
              </a:rPr>
              <a:t>Affected tag:  PT-101 (Pressure Transmitter)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What Z3 found:</a:t>
            </a:r>
          </a:p>
          <a:p>
            <a:r>
              <a:rPr sz="1100">
                <a:solidFill>
                  <a:srgbClr val="2A303A"/>
                </a:solidFill>
              </a:rPr>
              <a:t>  Invariant INV-001 requires:</a:t>
            </a:r>
          </a:p>
          <a:p>
            <a:r>
              <a:rPr sz="1100">
                <a:solidFill>
                  <a:srgbClr val="2A303A"/>
                </a:solidFill>
              </a:rPr>
              <a:t>  "IF PT-101 &gt;= 60 bar THEN P-001 STOP"</a:t>
            </a:r>
          </a:p>
          <a:p>
            <a:r>
              <a:rPr sz="1100">
                <a:solidFill>
                  <a:srgbClr val="2A303A"/>
                </a:solidFill>
              </a:rPr>
              <a:t>  No rule in the IR model covers this.</a:t>
            </a:r>
          </a:p>
          <a:p>
            <a:r>
              <a:rPr sz="1100">
                <a:solidFill>
                  <a:srgbClr val="2A303A"/>
                </a:solidFill>
              </a:rPr>
              <a:t>  Z3 result: omission (invariant uncovered)</a:t>
            </a:r>
          </a:p>
          <a:p>
            <a:r>
              <a:rPr sz="1100">
                <a:solidFill>
                  <a:srgbClr val="2A303A"/>
                </a:solidFill>
              </a:rPr>
              <a:t>  IEC clause: §10.3.2  (HH shutdown required)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Evidence found in:</a:t>
            </a:r>
          </a:p>
          <a:p>
            <a:r>
              <a:rPr sz="1100">
                <a:solidFill>
                  <a:srgbClr val="2A303A"/>
                </a:solidFill>
              </a:rPr>
              <a:t>  • Control Narrative  — page 4</a:t>
            </a:r>
          </a:p>
          <a:p>
            <a:r>
              <a:rPr sz="1100">
                <a:solidFill>
                  <a:srgbClr val="2A303A"/>
                </a:solidFill>
              </a:rPr>
              <a:t>  • C&amp;E Table          — row 7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Recommendation:</a:t>
            </a:r>
          </a:p>
          <a:p>
            <a:r>
              <a:rPr sz="1100">
                <a:solidFill>
                  <a:srgbClr val="2A303A"/>
                </a:solidFill>
              </a:rPr>
              <a:t>  Add rule: "IF PT-101 &gt;= 60 bar</a:t>
            </a:r>
          </a:p>
          <a:p>
            <a:r>
              <a:rPr sz="1100">
                <a:solidFill>
                  <a:srgbClr val="2A303A"/>
                </a:solidFill>
              </a:rPr>
              <a:t>              THEN P-001 STOP (HIGH-HIGH)"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This is 1 of 25 Missing Shutdown</a:t>
            </a:r>
          </a:p>
          <a:p>
            <a:r>
              <a:rPr sz="1100">
                <a:solidFill>
                  <a:srgbClr val="2A303A"/>
                </a:solidFill>
              </a:rPr>
              <a:t>defects detected in the benchmark.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OMISSION finding: a required safety rule exists in IEC 61511 but is absent from the spec  ·  Z3 proves the invariant is uncovered by formal model checking  ·  Source evidence links directly to PDF page + row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System Dashboard  —  Viewing the Audit Findings</a:t>
            </a:r>
          </a:p>
        </p:txBody>
      </p:sp>
      <p:pic>
        <p:nvPicPr>
          <p:cNvPr id="4" name="Picture 3" descr="sc_fin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8046720" cy="46817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353312"/>
            <a:ext cx="8046720" cy="4681728"/>
          </a:xfrm>
          <a:prstGeom prst="roundRect">
            <a:avLst/>
          </a:prstGeom>
          <a:noFill/>
          <a:ln w="15875">
            <a:solidFill>
              <a:srgbClr val="9BB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0" y="1353312"/>
            <a:ext cx="3108960" cy="4681728"/>
          </a:xfrm>
          <a:prstGeom prst="roundRect">
            <a:avLst/>
          </a:prstGeom>
          <a:solidFill>
            <a:srgbClr val="ECF4FD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472184"/>
            <a:ext cx="2926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Key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773936"/>
            <a:ext cx="292608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All 7 findings listed</a:t>
            </a:r>
          </a:p>
          <a:p>
            <a:r>
              <a:rPr sz="1150">
                <a:solidFill>
                  <a:srgbClr val="2A303A"/>
                </a:solidFill>
              </a:rPr>
              <a:t>  with severity badge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Filter by type or</a:t>
            </a:r>
          </a:p>
          <a:p>
            <a:r>
              <a:rPr sz="1150">
                <a:solidFill>
                  <a:srgbClr val="2A303A"/>
                </a:solidFill>
              </a:rPr>
              <a:t>  severity level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Each card shows:</a:t>
            </a:r>
          </a:p>
          <a:p>
            <a:r>
              <a:rPr sz="1150">
                <a:solidFill>
                  <a:srgbClr val="2A303A"/>
                </a:solidFill>
              </a:rPr>
              <a:t>  · Affected equipment tag</a:t>
            </a:r>
          </a:p>
          <a:p>
            <a:r>
              <a:rPr sz="1150">
                <a:solidFill>
                  <a:srgbClr val="2A303A"/>
                </a:solidFill>
              </a:rPr>
              <a:t>  · IEC clause violated</a:t>
            </a:r>
          </a:p>
          <a:p>
            <a:r>
              <a:rPr sz="1150">
                <a:solidFill>
                  <a:srgbClr val="2A303A"/>
                </a:solidFill>
              </a:rPr>
              <a:t>  · Source PDF page</a:t>
            </a:r>
          </a:p>
          <a:p>
            <a:r>
              <a:rPr sz="1150">
                <a:solidFill>
                  <a:srgbClr val="2A303A"/>
                </a:solidFill>
              </a:rPr>
              <a:t>  · Z3 proof or result</a:t>
            </a:r>
          </a:p>
          <a:p>
            <a:r>
              <a:rPr sz="1150">
                <a:solidFill>
                  <a:srgbClr val="2A303A"/>
                </a:solidFill>
              </a:rPr>
              <a:t>  · What to fix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Demo data pre-loaded:</a:t>
            </a:r>
          </a:p>
          <a:p>
            <a:r>
              <a:rPr sz="1150">
                <a:solidFill>
                  <a:srgbClr val="2A303A"/>
                </a:solidFill>
              </a:rPr>
              <a:t>  3 HIGH, 3 MEDIUM, 1 LOW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Download full HTML</a:t>
            </a:r>
          </a:p>
          <a:p>
            <a:r>
              <a:rPr sz="1150">
                <a:solidFill>
                  <a:srgbClr val="2A303A"/>
                </a:solidFill>
              </a:rPr>
              <a:t>  report with one click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Streamlit 7-page dashboard  ·  Finding cards show evidence, Z3 proof, and recommended fix  ·  Works offline — no internet or external API needed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Knowledge Graph  —  How Equipment Is Connected in the Specification</a:t>
            </a:r>
          </a:p>
        </p:txBody>
      </p:sp>
      <p:pic>
        <p:nvPicPr>
          <p:cNvPr id="4" name="Picture 3" descr="sc_knowledge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7818120" cy="46817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353312"/>
            <a:ext cx="7818120" cy="4681728"/>
          </a:xfrm>
          <a:prstGeom prst="roundRect">
            <a:avLst/>
          </a:prstGeom>
          <a:noFill/>
          <a:ln w="15875">
            <a:solidFill>
              <a:srgbClr val="9BB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49640" y="1353312"/>
            <a:ext cx="3337560" cy="4681728"/>
          </a:xfrm>
          <a:prstGeom prst="roundRect">
            <a:avLst/>
          </a:prstGeom>
          <a:solidFill>
            <a:srgbClr val="EAF6EC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472184"/>
            <a:ext cx="3154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What the Graph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1773936"/>
            <a:ext cx="315468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PKG-001: 12 nodes,</a:t>
            </a:r>
          </a:p>
          <a:p>
            <a:r>
              <a:rPr sz="1150">
                <a:solidFill>
                  <a:srgbClr val="2A303A"/>
                </a:solidFill>
              </a:rPr>
              <a:t>  8 control-rule edges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Nodes = equipment tags:</a:t>
            </a:r>
          </a:p>
          <a:p>
            <a:r>
              <a:rPr sz="1150">
                <a:solidFill>
                  <a:srgbClr val="2A303A"/>
                </a:solidFill>
              </a:rPr>
              <a:t>  Sensors, Pumps, Valves,</a:t>
            </a:r>
          </a:p>
          <a:p>
            <a:r>
              <a:rPr sz="1150">
                <a:solidFill>
                  <a:srgbClr val="2A303A"/>
                </a:solidFill>
              </a:rPr>
              <a:t>  Interlocks, Alarms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Edges = rules between them:</a:t>
            </a:r>
          </a:p>
          <a:p>
            <a:r>
              <a:rPr sz="1150">
                <a:solidFill>
                  <a:srgbClr val="2A303A"/>
                </a:solidFill>
              </a:rPr>
              <a:t>  "IF PT-101 &gt;= 50 bar</a:t>
            </a:r>
          </a:p>
          <a:p>
            <a:r>
              <a:rPr sz="1150">
                <a:solidFill>
                  <a:srgbClr val="2A303A"/>
                </a:solidFill>
              </a:rPr>
              <a:t>   THEN XV-201 CLOSE"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Built from 3 doc types</a:t>
            </a:r>
          </a:p>
          <a:p>
            <a:r>
              <a:rPr sz="1150">
                <a:solidFill>
                  <a:srgbClr val="2A303A"/>
                </a:solidFill>
              </a:rPr>
              <a:t>  (narrative + table + P&amp;ID)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Interactive: click any</a:t>
            </a:r>
          </a:p>
          <a:p>
            <a:r>
              <a:rPr sz="1150">
                <a:solidFill>
                  <a:srgbClr val="2A303A"/>
                </a:solidFill>
              </a:rPr>
              <a:t>  node to inspect its rules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Used in Phase 3 linking</a:t>
            </a:r>
          </a:p>
          <a:p>
            <a:r>
              <a:rPr sz="1150">
                <a:solidFill>
                  <a:srgbClr val="2A303A"/>
                </a:solidFill>
              </a:rPr>
              <a:t>  to match tags across docs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Offline vis.js graph</a:t>
            </a:r>
          </a:p>
          <a:p>
            <a:r>
              <a:rPr sz="1150">
                <a:solidFill>
                  <a:srgbClr val="2A303A"/>
                </a:solidFill>
              </a:rPr>
              <a:t>  (no CDN dependency)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NetworkX DiGraph  ·  vis.js 9.1.9 embedded inline (688 KB)  ·  Nodes colour-coded by equipment class  ·  Edges carry rule ID, condition, and action labels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