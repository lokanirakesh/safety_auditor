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9" r:id="rId28"/>
    <p:sldId id="276" r:id="rId25"/>
    <p:sldId id="277" r:id="rId26"/>
    <p:sldId id="278" r:id="rId27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2047" y="1444752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What is the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A neuro-symbolic framework that audits multimodal industrial control specifications before PLC synthesis.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AI is used for document understanding and structured extraction.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Formal verification checks safety properties before code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6767" y="1417320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Why is it needed?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0266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 generator can faithfully translate what is written even when the specification is incomplete or inconsistent.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Potential issues include missing shutdown constraints, contradictory rules and mismatched tags.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Moving verification upstream can expose these issues before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7482" y="143560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What does it process?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 narratives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Cause-and-effect / interlock tables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P&amp;ID diagrams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Unified asset and control 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Core research: multimodal extraction  →  cross-modal linking  →  safety invariants  →  Z3 auditing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583680" cy="4480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Industrial Control Systems support critical infrastructure such as chemical, oil &amp; gas, water, power and pharmaceutical plants.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PLCs execute control logic derived from engineering specifications.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The specification is distributed across narratives, cause-and-effect tables, interlock matrices and P&amp;ID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Large specifications require engineers to connect information across many pages and formats.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A safety-oriented audit before synthesis can identify logically detectable issues earlier.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53312"/>
            <a:ext cx="3520440" cy="416052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24044" y="1451967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1810512"/>
            <a:ext cx="3300984" cy="361187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Understand multiple document formats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Check consistency and safety constraints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Preserve source evidence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Keep the engineer as final checkpoint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200" b="1" i="0">
                <a:solidFill>
                  <a:srgbClr val="1F406C"/>
                </a:solidFill>
                <a:latin typeface="Cambria"/>
              </a:rPr>
              <a:t>Specification → AI understanding → formal model → safety audit → PLC synthesis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4273" y="1472184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Observed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 specifications can contain ambiguous, contradictory or incomplete information.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Information is distributed across text, tables and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 generator only sees what is represented in its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29184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18888" y="1430658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Illustrative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783080"/>
            <a:ext cx="30723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Written: “If pressure becomes high, monitor pump condition.”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Expected safety behaviour: “If pressure exceeds the defined threshold, stop the pump.”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The missing constraint may survive translation into PLC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50983" y="143711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7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safety deficiencies within a specification be detected before PLC generation?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extracted information be formalized for safety checking?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findings remain traceable to engineering evidence?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AA4949"/>
                </a:solidFill>
                <a:latin typeface="Cambria"/>
              </a:rPr>
              <a:t>Scope: identify gaps/violations relative to explicit safety properties — not every undocumented engineering intention.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Year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Representative work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What it addresses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Gap for this work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Automated Generation of Modular PLC Control Software from P&amp;ID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P&amp;ID-based PLC/control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Source omissions are not the primary focus.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Automatic Test of Safety Specifications for PLC Programs in Oil &amp; Gas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Cause-and-effect safety testing with Petri nets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Does not focus on multimodal source completeness before synthesis.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Formal verification of PLC / IEC 61131-3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Formal models/model checking for PLC safety and conformity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Typically centred on implementation/formal properties.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LLM4PLC / Agents4PLC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LLM-assisted PLC generation with verification/feedback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Focus remains largely on generation and code verification.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Automatic assertion generation with LLM for ICS program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Document constraints mapped to program assertions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Target is program verification; our focus is pre-synthesis specification auditing.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Trend: manual engineering → AI-assisted generation → post-generation verification → opportunity for specification-stage auditing.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38912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300" b="1" i="0">
                <a:solidFill>
                  <a:srgbClr val="1F406C"/>
                </a:solidFill>
                <a:latin typeface="Cambria"/>
              </a:rPr>
              <a:t>Existing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64592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5296" y="171907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Specification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14884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88720" y="242316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5296" y="249631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AI generation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92608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320040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327355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PLC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370332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88720" y="3977639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4050791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2344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300" b="1" i="0">
                <a:solidFill>
                  <a:srgbClr val="1F406C"/>
                </a:solidFill>
                <a:latin typeface="Cambria"/>
              </a:rPr>
              <a:t>Proposed research direction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554480"/>
            <a:ext cx="3749039" cy="438912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11696" y="1627632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Multimodal specification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1993392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75120" y="2212848"/>
            <a:ext cx="3749039" cy="438912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11696" y="2286000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Formal control 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9640" y="2651760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75120" y="2871215"/>
            <a:ext cx="3749039" cy="438912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11696" y="2944368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Safety invariants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49640" y="3310128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75120" y="3529584"/>
            <a:ext cx="3749039" cy="438912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11696" y="3602736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Z3 audit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49640" y="3968496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75120" y="4187952"/>
            <a:ext cx="3749039" cy="438912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11696" y="4261104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Engineer 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9640" y="4626864"/>
            <a:ext cx="0" cy="201167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675120" y="4846320"/>
            <a:ext cx="3749039" cy="438912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4896317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PLC synthesis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5" y="5426964"/>
            <a:ext cx="10250424" cy="772668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5" y="5148072"/>
            <a:ext cx="10122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Gap under investigation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" y="5632704"/>
            <a:ext cx="10158984" cy="4114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 dirty="0">
                <a:solidFill>
                  <a:srgbClr val="2A303A"/>
                </a:solidFill>
                <a:latin typeface="Cambria"/>
              </a:rPr>
              <a:t>• Specification-level, pre-synthesis formal auditing of multimodal control requirements, with explicit safety invariants and traceable findings.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Research Questions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353312"/>
            <a:ext cx="566928" cy="566928"/>
          </a:xfrm>
          <a:prstGeom prst="ellipse">
            <a:avLst/>
          </a:prstGeom>
          <a:solidFill>
            <a:srgbClr val="ECF4FD"/>
          </a:solidFill>
          <a:ln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5B8CD2"/>
                </a:solidFill>
                <a:latin typeface="Cambria"/>
              </a:rP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5B8CD2"/>
                </a:solidFill>
                <a:latin typeface="Cambria"/>
              </a:rPr>
              <a:t>Multimodal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25880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control entities, relationships, conditions and actions be accurately extracted from text, tables and P&amp;ID diagrams?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432303"/>
            <a:ext cx="566928" cy="566928"/>
          </a:xfrm>
          <a:prstGeom prst="ellipse">
            <a:avLst/>
          </a:prstGeom>
          <a:solidFill>
            <a:srgbClr val="EAF6EC"/>
          </a:solidFill>
          <a:ln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569464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538B5C"/>
                </a:solidFill>
                <a:latin typeface="Cambria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04872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538B5C"/>
                </a:solidFill>
                <a:latin typeface="Cambria"/>
              </a:rPr>
              <a:t>Formal 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04872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extracted control information be transformed into a consistent structured representation suitable for formal verification?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511295"/>
            <a:ext cx="566928" cy="566928"/>
          </a:xfrm>
          <a:prstGeom prst="ellipse">
            <a:avLst/>
          </a:prstGeom>
          <a:solidFill>
            <a:srgbClr val="FCF4E2"/>
          </a:solidFill>
          <a:ln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648456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C6822D"/>
                </a:solidFill>
                <a:latin typeface="Cambria"/>
              </a:rP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83863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C6822D"/>
                </a:solidFill>
                <a:latin typeface="Cambria"/>
              </a:rPr>
              <a:t>Pre-synthesis safety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483863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Z3-based formal verification identify safety-property violations or specification gaps relative to predefined safety invariants before PLC generation?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590288"/>
            <a:ext cx="566928" cy="566928"/>
          </a:xfrm>
          <a:prstGeom prst="ellipse">
            <a:avLst/>
          </a:prstGeom>
          <a:solidFill>
            <a:srgbClr val="F1EBFA"/>
          </a:solidFill>
          <a:ln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727447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71569D"/>
                </a:solidFill>
                <a:latin typeface="Cambria"/>
              </a:rPr>
              <a:t>RQ4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62855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71569D"/>
                </a:solidFill>
                <a:latin typeface="Cambria"/>
              </a:rPr>
              <a:t>Comparative effectiveness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562855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Does pre-synthesis auditing detect specification-level defects that may be missed by forward-generation or post-generation verification workflows?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320297"/>
            <a:ext cx="10332720" cy="5486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5" y="5506698"/>
            <a:ext cx="100766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Overall research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6053328"/>
            <a:ext cx="10113264" cy="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50">
                <a:solidFill>
                  <a:srgbClr val="2A303A"/>
                </a:solidFill>
                <a:latin typeface="Cambria"/>
              </a:rPr>
              <a:t>• Determine whether multimodal understanding + formal safety reasoning can provide an effective pre-synthesis auditing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1042416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0" i="1">
                <a:solidFill>
                  <a:srgbClr val="5C6572"/>
                </a:solidFill>
                <a:latin typeface="Cambria"/>
              </a:rPr>
              <a:t>From raw multimodal specification to engineer-reviewed verified rule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490472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1. Multimodal ingestion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1984248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258568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2. Entity extraction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825496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099816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172968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3. Cross-modal linking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666744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3941064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014216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4. Knowledge graph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4507992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4782312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855464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5. Control Rule 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17320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490472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6. Safety invariant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1984248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258568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2331720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7. Z3 formal verification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2825496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3099816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45936" y="3172968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8. Audit findings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3666744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9360" y="3941064"/>
            <a:ext cx="475488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45936" y="4014216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9. Engineer 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0" y="4507992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09360" y="4782312"/>
            <a:ext cx="475488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45936" y="4855464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10. Verified rules → PLC code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486400"/>
            <a:ext cx="10332720" cy="438912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996695" y="5586983"/>
            <a:ext cx="100766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Core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6053328"/>
            <a:ext cx="10113264" cy="182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Multimodal extraction • cross-modal linking • formal Rule IR • safety invariants • Z3 auditing • traceable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Document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93008" cy="448056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1435608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1 — Multimodal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Read PDF text and layout.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Extract cause-and-effect/interlock tables.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Process P&amp;ID images and OCR tags.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Preserve page/section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493008" cy="448056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48428" y="1444752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2 — Neuro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Qwen 2.5 / Llama 3 or another selected local model.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Extract entities, attributes, relations and control rules.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Return structured JSON with confidence scores.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Do not invent unsupported source 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325880"/>
            <a:ext cx="3246120" cy="448056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1" y="1444752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3 — Cross-modal linking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783080"/>
            <a:ext cx="3026663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Match the same equipment across text, tables and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Resolve tag references and naming variations.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Create one consistent asset identity.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Escalate unresolved ambiguity.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Key output: grounded entities, relationships and source-linked engineering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Formal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93008" cy="448056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495422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4 —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Represent sensors, variables, equipment and controllers as nodes.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Represent relationships such as measures, controls and connects.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Support cross-document reasoning and source traceability.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493008" cy="448056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458468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5 — Control Rule 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Translate natural-language requirements into typed rules.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Example: Pressure ≥ 50 PSI → P-101 STOP.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Store condition, action, exception and source evidence.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Validate structure with Pydantic.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228735"/>
            <a:ext cx="3246120" cy="448056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1" y="1435608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6 — Safety invariant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783080"/>
            <a:ext cx="3026663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Load explicit safety properties.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Examples: high pressure → pump stop; ESD → motor stop.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these properties as the reference for formal auditing.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33872"/>
            <a:ext cx="1060704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70" b="1" i="0">
                <a:solidFill>
                  <a:srgbClr val="AA4949"/>
                </a:solidFill>
                <a:latin typeface="Cambria"/>
              </a:rPr>
              <a:t>Important: safety invariants come from engineering/domain knowledge or benchmark definitions; Z3 does not invent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Audit, Review &amp;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92024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39903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7 — Z3 formal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Ask whether the formal model permits a state that violates a safety invariant.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25880"/>
            <a:ext cx="4983480" cy="19202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17336" y="139903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8 — Audit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783080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Convert formal results into engineer-readable findings with counterexamples and source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4983480" cy="19202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359359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9 — Engineer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77639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Critical or low-confidence findings are reviewed before a rule is treated as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520440"/>
            <a:ext cx="4983480" cy="19202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359359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10 — Verified rules → PLC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977639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20">
                <a:solidFill>
                  <a:srgbClr val="2A303A"/>
                </a:solidFill>
                <a:latin typeface="Cambria"/>
              </a:rPr>
              <a:t>• Generate Structured Text from the engineer-reviewed rule set and validate in an appropriate PLC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The research core is the specification/model audit; PLC synthesis is a supporting downstream demonstration.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Worked Example — Z3 Formal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154680" cy="2057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" y="144475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Safety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29352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>
                <a:solidFill>
                  <a:srgbClr val="2A303A"/>
                </a:solidFill>
                <a:latin typeface="Cambria"/>
              </a:rPr>
              <a:t>• Pressure ≥ 50 PSI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>
                <a:solidFill>
                  <a:srgbClr val="2A303A"/>
                </a:solidFill>
                <a:latin typeface="Cambria"/>
              </a:rPr>
              <a:t>• → Pump P-101 must NOT remain 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1371600"/>
            <a:ext cx="3154680" cy="205740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9663" y="144475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Formal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76" y="1828800"/>
            <a:ext cx="29352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Pressure ≥ 50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AND Pump = RUNNING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Can both be true under the model?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1371600"/>
            <a:ext cx="3840480" cy="2057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1444752"/>
            <a:ext cx="3584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If 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36210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A violating state exists in the formal model.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Example: pressure = 55, pump = RUNNING.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Report as a potential specification safety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40480"/>
            <a:ext cx="10287000" cy="141732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5" y="3913632"/>
            <a:ext cx="10030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Key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4297680"/>
            <a:ext cx="10067544" cy="8686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10">
                <a:solidFill>
                  <a:srgbClr val="2A303A"/>
                </a:solidFill>
                <a:latin typeface="Cambria"/>
              </a:rPr>
              <a:t>• Z3 proves the result for the formal model and assumptions provided. It does not prove that the original engineering document is complete, nor does it independently invent missing safety requirements.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3327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SAT = violating state is possible  |  UNSAT = no such state under the current model and assumptions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Datasets &amp; Benchmark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3" y="1435608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Why a controlled benchmark?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Real industrial specifications are often confidential.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Controlled generation provides exact ground truth.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Known defects can be injected and reproduced.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18305" y="1435608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Target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0266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40–60 specification packages.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Each package: control narrative + cause-and-effect table + simplified P&amp;ID.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Keep ~20% held out for development control / tuning.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0996" y="143560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Defect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Missing shutdown rules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Missing interlocks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Contradictory rules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Tag mismatches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Cross-modal inconsistencies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Reachable unsafe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Clean package → inject known defect → log ground truth → run baselines and proposed system → compare detection.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Implementation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34440"/>
            <a:ext cx="3794760" cy="420624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307592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Streamlit UI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1655064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56232"/>
            <a:ext cx="3794760" cy="420624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929384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Python orchestration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276856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" y="2478024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551176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Document processing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898648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" y="3099816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172968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LLM extraction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40" y="3520440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" y="3721608"/>
            <a:ext cx="3794760" cy="420624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794760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Rule IR + graph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6040" y="4142232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" y="4343400"/>
            <a:ext cx="3794760" cy="420624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416552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Z3 audit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4764024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" y="4965192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5038344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Report + PLC synthesis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280160"/>
            <a:ext cx="6400800" cy="178308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28616" y="1353312"/>
            <a:ext cx="61447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Technology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1737360"/>
            <a:ext cx="6181344" cy="12344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PyMuPDF • pdfplumber / Camelot • OpenCV • Tesseract • Ollama • Qwen/Llama • Pydantic • NetworkX • Z3 • Jinja2 • OpenPLC/CODESYS • Streamlit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246120"/>
            <a:ext cx="3063240" cy="201168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28616" y="3319272"/>
            <a:ext cx="28072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3703320"/>
            <a:ext cx="2843784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Parsing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Extraction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Normalization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Formalization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Audit orchestration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246120"/>
            <a:ext cx="3154680" cy="201168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74736" y="331927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Engineer-facing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703320"/>
            <a:ext cx="2935224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Upload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Run audit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View findings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Inspect evidence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Download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Design principle: every research stage can be evaluated independently.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Implementation, Partial Results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2312" y="1435608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Completed / prototyped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Overall architecture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 Rule IR schema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Safety invariant representation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Initial Z3 audit prototype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Audit finding structure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Dashboard integration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3756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58868" y="1426464"/>
            <a:ext cx="308152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Worked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11810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Observed state: Pressure = 55, Pump = RUNNING.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Invariant: Pressure &gt; 50 → Pump must STOP.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Formal audit checks the violating state under the model.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Result should be interpreted together with the property and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90688" y="1325880"/>
            <a:ext cx="342900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96756" y="1426464"/>
            <a:ext cx="3172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5" y="1783080"/>
            <a:ext cx="320954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Connect PDF/text ingestion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Integrate local LLM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Add tables + P&amp;ID evidence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Construct benchmark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Run baseline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42416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90" b="1" i="0">
                <a:solidFill>
                  <a:srgbClr val="AA4949"/>
                </a:solidFill>
                <a:latin typeface="Cambria"/>
              </a:rPr>
              <a:t>Discussion: the prototype demonstrates that formal checks can expose a violating state, but conclusions remain bounded by the encoded model and assumptions. Full multimodal benchmark and end-to-end evaluation are the next steps.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Evaluation Metrics &amp; Experimental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16152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Aspect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Metrics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Purpose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Entity / relation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Extraction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Rule / IR correctness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Condition, Action, Entity accuracy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Faithfulness of structured rules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Safety-defect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F1, FP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Ability to identify known safety defects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Contradiction / consistency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Detection of conflicting or mismatched information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Evidence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Link from finding to source page/section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System performance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Processing time, verification time, scalability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Practical cost as model size grows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PLC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Syntax, compilation, functional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Validity of downstream code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Baselines: LLM-only audit/extraction, forward PLC generation, and post-generation verification.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SDG Mapping with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34340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" y="139903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9 — Industry, Innovation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Applies AI and formal verification to industrial automation.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Supports digital transformation of engineering workflows.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Moves verification earlier in the control-development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83280" cy="4343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40549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3 — Good Health &amp; Well-Being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Earlier identification of safety-critical specification defects may reduce risk to workers and the public.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Positioned as decision support, not safety certification.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325880"/>
            <a:ext cx="3291840" cy="4343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3588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12 — Responsible Consumption &amp;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783080"/>
            <a:ext cx="307238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Safer control specifications can reduce process failures, rework and waste.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Earlier defect detection can reduce correction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50" b="0" i="0">
                <a:solidFill>
                  <a:srgbClr val="5C6572"/>
                </a:solidFill>
                <a:latin typeface="Cambria"/>
              </a:rPr>
              <a:t>Mapping is proposed for review and should be confirmed against institutional guidance.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Project Plan — Semester 3 (Gantt 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92024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50" b="1" i="0">
                <a:solidFill>
                  <a:srgbClr val="1F406C"/>
                </a:solidFill>
                <a:latin typeface="Cambria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409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325880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Literature + 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5409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6499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75887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8678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0857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1947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23036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4126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5216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6305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7395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8484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09574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0664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1753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2843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3932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5022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96112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27201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58291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89380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1353312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54096" y="1353312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1755648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PDF/OCR/table extraction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05409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36499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675887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98678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29768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60857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91947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23036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54126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85216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6305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7395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78484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09574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40664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71753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02843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33932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65022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96112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27201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58291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89380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364992" y="1783080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675887" y="1783080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5800" y="2185415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LLM + Rule IR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05409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36499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75887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98678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29768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60857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91947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523036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54126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85216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6305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47395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78484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09574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40664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71753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2843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33932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65022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96112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27201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58291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989380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3986784" y="2212847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4297680" y="2212847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85800" y="2615184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Cross-modal linking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305409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36499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675887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98678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429768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60857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91947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23036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554126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585216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16305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47395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78484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709574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740664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71753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02843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833932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865022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896112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927201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958291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989380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608576" y="2642615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919472" y="2642615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85800" y="3044952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Safety invariants + Z3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05409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36499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3675887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98678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429768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60857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91947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523036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554126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85216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16305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47395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09574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40664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71753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802843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33932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865022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896112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927201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958291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989380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5230368" y="3072384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5541264" y="3072384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85800" y="3474720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Dashboard + reporting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305409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336499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3675887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398678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429768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460857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491947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523036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554126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585216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16305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47395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678484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709574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740664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771753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802843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33932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865022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896112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927201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958291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989380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5852160" y="3502151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6163056" y="3502151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85800" y="3904487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Benchmark + baselines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74320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305409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336499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3675887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398678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429768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460857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491947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523036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554126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585216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616305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647395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678484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709574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740664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771753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802843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33932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865022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896112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927201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958291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989380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6473952" y="3931920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6784848" y="3931920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685800" y="4334256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PLC synthesis demo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74320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305409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336499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3675887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398678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429768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460857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491947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523036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554126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585216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616305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647395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678484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709574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740664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771753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802843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833932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865022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896112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927201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958291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989380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7095744" y="4361688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7406640" y="4361688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85800" y="4764024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Full evaluation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74320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305409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336499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3675887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398678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429768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460857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491947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523036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554126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585216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616305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647395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678484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709574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740664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771753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802843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833932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865022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896112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927201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958291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989380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7717536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8028432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8339328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8650224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685800" y="5193792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Paper + thesis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274320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305409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336499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3675887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398678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429768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ctangle 280"/>
          <p:cNvSpPr/>
          <p:nvPr/>
        </p:nvSpPr>
        <p:spPr>
          <a:xfrm>
            <a:off x="460857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491947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523036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554126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585216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616305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647395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678484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709574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740664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Rectangle 290"/>
          <p:cNvSpPr/>
          <p:nvPr/>
        </p:nvSpPr>
        <p:spPr>
          <a:xfrm>
            <a:off x="771753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802843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833932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865022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896112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927201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958291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989380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8961120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9272016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Rectangle 300"/>
          <p:cNvSpPr/>
          <p:nvPr/>
        </p:nvSpPr>
        <p:spPr>
          <a:xfrm>
            <a:off x="9582912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9893808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777240" y="571500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0" i="0">
                <a:solidFill>
                  <a:srgbClr val="5C6572"/>
                </a:solidFill>
                <a:latin typeface="Cambria"/>
              </a:rPr>
              <a:t>Working timeline; adjust after dataset and implementation milestones are confirmed.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Domain Expertise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50749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61872" y="1430658"/>
            <a:ext cx="48188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Domain expertise course — planned /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5546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Industrial Automation / PLC / SCADA fundamentals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PLC architecture and IEC 61131-3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Structured Text and interlocks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P&amp;ID interpretation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Sensors, actuators and control loops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Industrial safety concepts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9" y="1349118"/>
            <a:ext cx="51206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3512" y="1399032"/>
            <a:ext cx="486460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Domain-learning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056" y="1783080"/>
            <a:ext cx="490118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Understand industrial automation, PLC/SCADA workflows and control loops.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Interpret P&amp;ID symbols, sensors, actuators and interlocks.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Relate IEC 61131-3 programming concepts to Structured Text.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Build sufficient domain knowledge to define meaningful safety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1042416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Goal: combine research/software skills with sufficient industrial-domain knowledge to define meaningful safety properties.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Expected Contributions, Scope &amp;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399032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Expected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Multimodal specification extraction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Cross-modal entity grounding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Formal Control Rule IR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Curated safety-invariant representation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Z3-based pre-synthesis audit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Traceable evidence-linked findings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29184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3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Scope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0723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Audit against explicit safety properties.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human review for critical findings.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PLC synthesis is downstream support.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No claim of complete plant safety or universal omission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25880"/>
            <a:ext cx="342900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0416" y="1399032"/>
            <a:ext cx="3172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Risks &amp;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783080"/>
            <a:ext cx="320954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LLM/OCR errors → confidence + grounding.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Limited real data → controlled benchmark.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False positives → evaluation + review.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Formal-model mismatch → source traceability.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Scalability → subsystem-first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10" b="1" i="0">
                <a:solidFill>
                  <a:srgbClr val="AA4949"/>
                </a:solidFill>
                <a:latin typeface="Cambria"/>
              </a:rPr>
              <a:t>Primary research contribution under investigation: an evaluated pre-synthesis specification-audit workflow.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500" b="1" i="0">
                <a:solidFill>
                  <a:srgbClr val="1F406C"/>
                </a:solidFill>
                <a:latin typeface="Cambria"/>
              </a:rPr>
              <a:t>Move safety-oriented reasoning upstream — from generated PLC code to the specification/model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828800" cy="566928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Extract multimodal information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432304"/>
            <a:ext cx="274320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53512" y="2148840"/>
            <a:ext cx="1828800" cy="566928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0088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Formalize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Create structured control 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82312" y="2432304"/>
            <a:ext cx="274319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3" y="2148840"/>
            <a:ext cx="1828800" cy="566928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59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3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Check safety properties with Z3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58583" y="2432304"/>
            <a:ext cx="274320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5" y="2148840"/>
            <a:ext cx="182880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42631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5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Engineer validates findings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34855" y="2432304"/>
            <a:ext cx="274321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82328" y="2148840"/>
            <a:ext cx="1828800" cy="566928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18903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Produce downstream PLC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160520"/>
            <a:ext cx="10287000" cy="12344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5" y="4233672"/>
            <a:ext cx="10030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Final research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617720"/>
            <a:ext cx="10067544" cy="685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We will evaluate whether multimodal specification understanding plus formal safety reasoning can identify specification-level defects before PLC synthesis and provide traceable evidence for engineering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623560"/>
            <a:ext cx="21945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600" b="1" i="0">
                <a:solidFill>
                  <a:srgbClr val="1F406C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26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1. Vogel et al., “Automated Generation of Modular PLC Control Software from P&amp;ID Diagrams in Process Industry,” INDIN, 2014.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2. “Automatic Test of Safety Specifications for PLC Programs in the Oil and Gas Industry,” IFAC-PapersOnLine, 2015.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3. Ljungkrantz et al., “Formal Specification and Verification of Industrial Control Logic Components,” IEEE TASE, 2010.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4. Fakih et al., “LLM4PLC: Harnessing Large Language Models for Verifiable Programming of PLCs in Industrial Control Systems,” 2024.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5. Liu et al., “Agents4PLC: Automating Closed-loop PLC Code Generation and Verification in Industrial Control Systems using LLM-based Agents,” 2024.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6. “Automatic assertion generation with LLM for ICS program verification,” Journal of Systems and Software, 2026.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7. de Moura, L. and Bjørner, N., “Z3: An Efficient SMT Solver,” TACAS, 2008.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8. IEC 61131-3, Programmable Controllers — Part 3: Programming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0" i="0">
                <a:solidFill>
                  <a:srgbClr val="5C6572"/>
                </a:solidFill>
                <a:latin typeface="Cambria"/>
              </a:rPr>
              <a:t>Final bibliographic details should be checked against the publisher/official source before submission.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Technical Enrichment Activities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34340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" y="139903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1. Research &amp;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Read recent work on LLM-based PLC generation, formal verification and industrial AI.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Compare generation, verification and pre-synthesis auditing approaches.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Record research gaps and connect them to the project methodology.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83280" cy="4343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40549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2. Z3 / Formal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Practice constraints, invariants and SAT/UNSAT reasoning.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Model safety properties and inspect violating states/counterexamples.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Understand the limits of formal results under stated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325880"/>
            <a:ext cx="3291840" cy="4343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3588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3. PLC / Automation Hands-on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783080"/>
            <a:ext cx="307238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Practice IEC 61131-3 Structured Text and basic interlocks.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Explore PLC/automation workflows with pump and valve control examples.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Strengthen P&amp;ID-to-control-logic interpretation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50" b="0" i="0">
                <a:solidFill>
                  <a:srgbClr val="5C6572"/>
                </a:solidFill>
                <a:latin typeface="Cambria"/>
              </a:rPr>
              <a:t>Outcome: strengthen the bridge between research/software implementation and industrial-domain reasoning.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