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</a:rPr>
              <a:t>Amrita Vishwa Vidyapeetham  ·  Amrita School of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E8"/>
                </a:solidFill>
              </a:rPr>
              <a:t>M.Tech Computer Science and Engineering (Research)  ·  Panel Review 2  ·  07-10-2026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45920"/>
            <a:ext cx="73152" cy="4919472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783080"/>
            <a:ext cx="11612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F3F6B"/>
                </a:solidFill>
              </a:rPr>
              <a:t>A Neuro-Symbolic Safety Auditing Framework
for Industrial Control System Specifications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" y="3337560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342900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2E74B5"/>
                </a:solidFill>
              </a:rPr>
              <a:t>Pre-Synthesis Defect Detection  ·  LLM Entity Extraction  ·  Z3 Formal Verification  ·  IEC 61511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069080"/>
            <a:ext cx="5303520" cy="65836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F3F6B"/>
                </a:solidFill>
              </a:rPr>
              <a:t>Supervisor:  Dr. [Supervisor Name]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069080"/>
            <a:ext cx="5029200" cy="658368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41788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Project Phase 1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74320" y="4919472"/>
          <a:ext cx="11612880" cy="749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374904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Roll Number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Internship Details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F3F6B"/>
                          </a:solidFill>
                        </a:rPr>
                        <a:t>LOKANIRAKESH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F3F6B"/>
                          </a:solidFill>
                        </a:rPr>
                        <a:t>[Roll Number]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F3F6B"/>
                          </a:solidFill>
                        </a:rPr>
                        <a:t>[Internship Details]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" y="65836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  ·  Amrita School of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Guide Approval Mail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" y="102412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371600" y="1417320"/>
            <a:ext cx="9418320" cy="49834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44475A"/>
                </a:solidFill>
              </a:rPr>
              <a:t>[Add approval email screenshot here]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Contents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" y="102412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" y="1417320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417320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F3F6B"/>
                </a:solidFill>
              </a:rPr>
              <a:t>Introduction &amp; Motivation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965960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F3F6B"/>
                </a:solidFill>
              </a:rPr>
              <a:t>Problem Statement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14600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514600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F3F6B"/>
                </a:solidFill>
              </a:rPr>
              <a:t>System Architecture &amp; Progress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63240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063240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31F24"/>
                </a:solidFill>
              </a:rPr>
              <a:t>Phase 1  —  Multimodal Ingestion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611880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611880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74B5"/>
                </a:solidFill>
              </a:rPr>
              <a:t>Phase 2  —  LLM Entity Extraction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60520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160520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31F24"/>
                </a:solidFill>
              </a:rPr>
              <a:t>Phase 3  —  Cross-Modal Linking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709160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709160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74B5"/>
                </a:solidFill>
              </a:rPr>
              <a:t>Phase 4  —  Knowledge Graph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257800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257800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31F24"/>
                </a:solidFill>
              </a:rPr>
              <a:t>Phase 5  —  IR Construction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417320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417320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74B5"/>
                </a:solidFill>
              </a:rPr>
              <a:t>Phase 6  —  Invariant Coverage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965960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965960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31F24"/>
                </a:solidFill>
              </a:rPr>
              <a:t>Phase 7  —  Z3 Formal Verification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514600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514600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74B5"/>
                </a:solidFill>
              </a:rPr>
              <a:t>Phase 8  —  Audit Report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063240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063240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31F24"/>
                </a:solidFill>
              </a:rPr>
              <a:t>Phase 9  —  PLC Code Generation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611880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611880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F3F6B"/>
                </a:solidFill>
              </a:rPr>
              <a:t>§01  Algorithms &amp; Evaluation Metrics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160520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160520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F3F6B"/>
                </a:solidFill>
              </a:rPr>
              <a:t>§02  Tools and Methods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4709160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709160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F3F6B"/>
                </a:solidFill>
              </a:rPr>
              <a:t>§03  Preliminary Results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5257800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257800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F3F6B"/>
                </a:solidFill>
              </a:rPr>
              <a:t>Conclusion &amp;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Introduction and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Why do we need automated safety auditing for ICS?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417320"/>
            <a:ext cx="3749039" cy="105156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4813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103 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People affected by ICS
failures annually (ICS-CERT)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1104" y="1417320"/>
            <a:ext cx="3749039" cy="105156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8264" y="14813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8264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Defects missed by manual
review (found at commissioning)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7888" y="1417320"/>
            <a:ext cx="3749039" cy="105156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4813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IEC 61511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Safety standard for SIS —
19 core requirement patterns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4320" y="2578608"/>
            <a:ext cx="11612880" cy="0"/>
          </a:xfrm>
          <a:prstGeom prst="line">
            <a:avLst/>
          </a:prstGeom>
          <a:ln w="9525">
            <a:solidFill>
              <a:srgbClr val="C8D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4320" y="2679192"/>
            <a:ext cx="11612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300"/>
              </a:spcBef>
            </a:pPr>
            <a:r>
              <a:rPr sz="1900">
                <a:solidFill>
                  <a:srgbClr val="12141B"/>
                </a:solidFill>
              </a:rPr>
              <a:t>  •  ICS safety specifications are spread across 3 document types: Control Narratives (text), P&amp;ID Drawings (diagrams), and Cause-Effect Tables (tables).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2141B"/>
                </a:solidFill>
              </a:rPr>
              <a:t>  •  Today, safety engineers manually cross-check all 3 — this is slow, costly, and error-prone.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2141B"/>
                </a:solidFill>
              </a:rPr>
              <a:t>  •  Current AI tools use LLMs alone — they hallucinate and cannot mathematically prove correctness.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2141B"/>
                </a:solidFill>
              </a:rPr>
              <a:t>  •  No existing tool automatically links entities across all 3 document types and runs formal verification.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5760720"/>
            <a:ext cx="11612880" cy="658368"/>
          </a:xfrm>
          <a:prstGeom prst="roundRect">
            <a:avLst/>
          </a:prstGeom>
          <a:solidFill>
            <a:srgbClr val="EBF4FF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83387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F3F6B"/>
                </a:solidFill>
              </a:rPr>
              <a:t>Our Goal:  Build an automated auditor that reads all 3 document types, links them with cross-modal entity linking, and uses the Z3 SMT solver to formally prove safety defects before any PLC code is written.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Problem Statement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" y="102412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1417320"/>
            <a:ext cx="11612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2141B"/>
                </a:solidFill>
              </a:rPr>
              <a:t>  •  Safety specifications for ICS are scattered across multiple document types — no single tool reads all of them together and cross-validates them.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2141B"/>
                </a:solidFill>
              </a:rPr>
              <a:t>  •  Manual safety review by engineers misses up to 30% of defects.  These are only found at commissioning or during an accident — extremely expensive and dangerous.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2141B"/>
                </a:solidFill>
              </a:rPr>
              <a:t>  •  Existing AI tools use LLMs in isolation — they can produce plausible-sounding but incorrect safety rules because they cannot prove correctness mathematically.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F3F6B"/>
                </a:solidFill>
              </a:rPr>
              <a:t>  •  There is no tool that:  (1) automatically links equipment names and rules across Control Narratives, P&amp;IDs, and Cause-Effect Tables,  AND  (2) uses formal logic to verify those rules against IEC 61511 safety standards.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742432"/>
            <a:ext cx="11612880" cy="713232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A3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815584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31F24"/>
                </a:solidFill>
              </a:rPr>
              <a:t>This project solves both gaps with a 9-phase neuro-symbolic pipeline: LLMs read and extract rules from natural language, and the Z3 SMT solver mathematically proves OMISSIONS, CONTRADICTIONS, and TAG MISMATCHES before a single line of PLC code is written.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End-to-end flow: 3 document types → 9 phases → Findings + PLC code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417320"/>
            <a:ext cx="3840480" cy="507492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31F24"/>
                </a:solidFill>
              </a:rPr>
              <a:t>INPUT DOCUMENTS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993392"/>
            <a:ext cx="347472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2103120"/>
            <a:ext cx="3474720" cy="685800"/>
          </a:xfrm>
          <a:prstGeom prst="roundRect">
            <a:avLst/>
          </a:prstGeom>
          <a:solidFill>
            <a:srgbClr val="2A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📄  Control Narrative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4505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</a:rPr>
              <a:t>Natural language process description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26080"/>
            <a:ext cx="3474720" cy="685800"/>
          </a:xfrm>
          <a:prstGeom prst="roundRect">
            <a:avLst/>
          </a:prstGeom>
          <a:solidFill>
            <a:srgbClr val="2A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971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📊  Cause-Effect Table 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735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</a:rPr>
              <a:t>Trigger → action mapping 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49040"/>
            <a:ext cx="3474720" cy="685800"/>
          </a:xfrm>
          <a:prstGeom prst="roundRect">
            <a:avLst/>
          </a:prstGeom>
          <a:solidFill>
            <a:srgbClr val="2A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94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🖼  P&amp;ID Drawing (Image)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096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</a:rPr>
              <a:t>Piping &amp; Instrumentation Diagram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54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▼  9-Phase Pipeline  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389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31F24"/>
                </a:solidFill>
              </a:rPr>
              <a:t>OUTPUTS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681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📋  HTML Audit Report (findings)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795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⚙  IEC 61131-3 PLC Structured 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141732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F6B"/>
                </a:solidFill>
              </a:rPr>
              <a:t>PROCESSING PIPELINE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434840" y="1828800"/>
            <a:ext cx="7452360" cy="0"/>
          </a:xfrm>
          <a:prstGeom prst="line">
            <a:avLst/>
          </a:prstGeom>
          <a:ln w="9525">
            <a:solidFill>
              <a:srgbClr val="C8D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434840" y="1920240"/>
            <a:ext cx="658368" cy="713232"/>
          </a:xfrm>
          <a:prstGeom prst="round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2075688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1+2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84648" y="1920240"/>
            <a:ext cx="6766560" cy="71323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1956816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F6B"/>
                </a:solidFill>
              </a:rPr>
              <a:t>Ingest + LLM Extract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226771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75A"/>
                </a:solidFill>
              </a:rPr>
              <a:t>PDF/OCR extraction → Qwen 2.5 entity &amp; rule extraction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764024" y="2633472"/>
            <a:ext cx="0" cy="192024"/>
          </a:xfrm>
          <a:prstGeom prst="line">
            <a:avLst/>
          </a:prstGeom>
          <a:ln w="19050">
            <a:solidFill>
              <a:srgbClr val="A3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434840" y="2825496"/>
            <a:ext cx="658368" cy="713232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2980944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3+4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84648" y="2825496"/>
            <a:ext cx="6766560" cy="71323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2862072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F6B"/>
                </a:solidFill>
              </a:rPr>
              <a:t>Link + Graph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31729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75A"/>
                </a:solidFill>
              </a:rPr>
              <a:t>Exact/Fuzzy/Embedding cross-modal linking → NetworkX DiGraph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764024" y="3538728"/>
            <a:ext cx="0" cy="192024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434840" y="3730752"/>
            <a:ext cx="658368" cy="713232"/>
          </a:xfrm>
          <a:prstGeom prst="round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6280" y="388620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5+6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84648" y="3730752"/>
            <a:ext cx="6766560" cy="71323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3767328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F6B"/>
                </a:solidFill>
              </a:rPr>
              <a:t>IR + Invariants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407822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75A"/>
                </a:solidFill>
              </a:rPr>
              <a:t>Pydantic ControlRule IR → 19 IEC 61511 template coverage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764024" y="4443984"/>
            <a:ext cx="0" cy="192024"/>
          </a:xfrm>
          <a:prstGeom prst="line">
            <a:avLst/>
          </a:prstGeom>
          <a:ln w="19050">
            <a:solidFill>
              <a:srgbClr val="A3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434840" y="4636008"/>
            <a:ext cx="658368" cy="713232"/>
          </a:xfrm>
          <a:prstGeom prst="round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26280" y="4791456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84648" y="4636008"/>
            <a:ext cx="6766560" cy="71323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49240" y="4672584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F6B"/>
                </a:solidFill>
              </a:rPr>
              <a:t>Z3 Verify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49240" y="4983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75A"/>
                </a:solidFill>
              </a:rPr>
              <a:t>OMISSION / CONTRADICTION / TAG_MISMATCH formal proofs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764024" y="5349240"/>
            <a:ext cx="0" cy="192024"/>
          </a:xfrm>
          <a:prstGeom prst="line">
            <a:avLst/>
          </a:prstGeom>
          <a:ln w="19050">
            <a:solidFill>
              <a:srgbClr val="A3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4434840" y="5541264"/>
            <a:ext cx="658368" cy="713232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26280" y="5696712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8+9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184648" y="5541264"/>
            <a:ext cx="6766560" cy="71323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49240" y="557784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F6B"/>
                </a:solidFill>
              </a:rPr>
              <a:t>Report + PLC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49240" y="588873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75A"/>
                </a:solidFill>
              </a:rPr>
              <a:t>Jinja2 HTML report + IEC 61131-3 Structured Text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Implementation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Current status of all 12 modules across the 9-phase pipeline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41732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2103120"/>
                <a:gridCol w="2560320"/>
              </a:tblGrid>
              <a:tr h="407963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PDF / Table / P&amp;ID Extraction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LLM Entity &amp; Rule Extraction (Qwen 2.5)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Cross-Modal Entity Linking (3-step cascade)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Phase 3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Knowledge Graph (NetworkX + PyVis HTML)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Phase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IR Construction (Pydantic v2 validated)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Phase 5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IEC 61511 Invariant Library (19 templates)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Phase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Z3 Formal Verification (3 passes)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Phase 7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HTML Audit Report (Jinja2)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Phase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PLC Structured Text Generator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Phase 9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Synthetic Benchmark Corpus (50 packages)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Full Evaluation Suite (P / R / F1 / ablation)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Eval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67E00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407964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Streamlit Web Dashboard (6 pages)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67E00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4320" y="118872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" y="566928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31F24"/>
                </a:solidFill>
              </a:rPr>
              <a:t>SECTION  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</a:rPr>
              <a:t>Multimodal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B4D8"/>
                </a:solidFill>
              </a:rPr>
              <a:t>This section covers: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73552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PyMuPDF text extraction  +  Tesseract OCR (PSM 11 + PSM 3 dual pass)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67328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SemanticChunker: heading-boundary grouping with 300-char overlap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61104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GlobalEntityRegistry: regex-first-pass ISA-5.1 tag scan → LLM prompt injection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07-10-2026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Amrita School of Computing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Phase 1  —  Multimodal Ingestion  :  Implementation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PDF text · Scanned-page OCR (PSM 11 + PSM 3) · Semantic chunking · Global tag registry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417320"/>
            <a:ext cx="6949440" cy="50749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A3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527048"/>
            <a:ext cx="662025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src/ingestion/  —  6 modules, ~1400 lines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from src.ingestion.pdf_extractor import PDFExtractor, TextBlock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from src.ingestion.image_extractor import PDFImageExtractor, IMAGE_SCANNED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from src.ingestion.chunker import SemanticChunker, DocumentChunk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from src.ingestion.entity_registry import GlobalEntityRegistry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PDFExtractor: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def extract(pdf_path) -&gt; List[TextBlock]: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doc = fitz.open(str(pdf_path))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for page in doc: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for b in page.get_text('blocks'):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  yield TextBlock(text=b[4], page=page_num,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block_type='heading' if bold else 'paragraph')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PDFImageExtractor: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def _ocr_full_page(page, pid_ext, config):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# Pass 1 — PSM 11 + whitelist  → ISA-5.1 tags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extraction = pid_ext._extract_from_image(img)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# Pass 2 — PSM 3, no whitelist → full prose text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full_text = pytesseract.image_to_string(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denoised, config='--psm 3 --oem 3').strip()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return ExtractedImage(image_class=IMAGE_SCANNED,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extracted_tags=extraction.tags,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full_text_ocr=full_text, width=w, height=h)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SemanticChunker: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def chunk(blocks: List[TextBlock]) -&gt; List[DocumentChunk]: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# Group blocks by heading boundary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# Split oversized sections at chunk_max_chars=5000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# Overlap 300 chars across section boundaries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GlobalEntityRegistry: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def build_from_blocks(blocks):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TAG_RE = re.compile(r'\b([A-Z]{1,3}-[0-9]{3,4}[A-Z]?)\b')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for block in blocks: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for m in TAG_RE.finditer(block.text):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self._entries[m.group(1)] = TagEntry(...)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return self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417320"/>
            <a:ext cx="4480560" cy="507492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2" y="155448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71232" y="186537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07808" y="19202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PDF files (text + scanned)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21945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P&amp;ID drawing images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24688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Cause-Effect table PDFs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2" y="283464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OUTPUT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71232" y="314553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07808" y="32004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List[DocumentChunk]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34747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GlobalEntityRegistry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37490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List[str] pid_tags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40233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List[ExtractedTable]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1232" y="438912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KEY CLASSES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571232" y="470001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607808" y="47548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PDFExtractor → TextBlock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8" y="50292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PDFImageExtractor → ExtractedImage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53035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SemanticChunker → DocumentChunk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8" y="55778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GlobalEntityRegistry → TagEntry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7808" y="58521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PIDExtractor, TableExtractor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71232" y="621792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TECHNOLOGIES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571232" y="652881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607808" y="65836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PyMuPDF (fitz)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7808" y="68580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Tesseract 5.4.0 (PSM 3 + 11)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7808" y="71323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OpenCV (cv2)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7808" y="74066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camelot / pdfplumber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07808" y="76809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regex ISA-5.1 pattern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71232" y="804672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STATUS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571232" y="835761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589520" y="8439912"/>
            <a:ext cx="1280160" cy="237744"/>
          </a:xfrm>
          <a:prstGeom prst="round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07808" y="8412480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COMPLETE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4320" y="118872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" y="566928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4B5"/>
                </a:solidFill>
              </a:rPr>
              <a:t>SECTION  Phase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</a:rPr>
              <a:t>LLM Entity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B4D8"/>
                </a:solidFill>
              </a:rPr>
              <a:t>This section covers: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73552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Ollama + Qwen 2.5 14B (local, no API key) — one call per DocumentChunk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67328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Global entity registry injected into every prompt for cross-page context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61104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Pydantic v2 validation: confidence &lt; 0.7 → needs_review flag raised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07-10-2026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Amrita School of Computing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Phase 2  —  LLM Entity Extraction  :  Implementation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Ollama + Qwen 2.5 · Global registry injection · Pydantic v2 validation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417320"/>
            <a:ext cx="6949440" cy="50749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527048"/>
            <a:ext cx="662025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src/extraction/entity_extractor.py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EntityExtractor: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def __init__(self, config):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self.llm = OllamaLLM(model='qwen2.5:14b',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format='json', temperature=0.1)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def _build_chunk_prompt(chunk, registry):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return (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f'DOCUMENT CONTEXT\n'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f'{registry.as_context_string()}\n\n'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f'SECTION: {chunk.section_title}\n'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f'(pages {chunk.page_start}–{chunk.page_end})\n\n'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f'{chunk.text[:5000]}\n\n'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CE9B78"/>
                </a:solidFill>
              </a:rPr>
              <a:t>      'Return JSON: {"entities":[...], "rules":[...]}'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def extract_from_chunks(chunks, registry):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all_entities, all_rules = [], []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for chunk in chunks:            # one call per chunk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prompt = self._build_chunk_prompt(chunk, registry)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raw = self.llm.invoke(prompt)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parsed = self._parse_llm_output(raw)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  # Pydantic v2 validation + null-guard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for e in parsed.get('entities', []):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  if e.get('tag'):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all_entities.append(ExtractedEntity(**e))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for r in parsed.get('rules', []):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  if r.get('rule_id') and r.get('confidence', 0) &gt;= 0.7: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all_rules.append(ExtractedRule(**r))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return ExtractionResult(all_entities, all_rules)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CE9B78"/>
                </a:solidFill>
              </a:rPr>
              <a:t>@dataclass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ExtractedEntity: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tag: str;  entity_class: str;  subclass: str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description: str;  confidence: float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CE9B78"/>
                </a:solidFill>
              </a:rPr>
              <a:t>@dataclass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ExtractedRule: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rule_id: str;  condition_tag: str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condition_operator: str;  condition_threshold: float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action: str;  equipment_tag: str;  confidence: float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417320"/>
            <a:ext cx="4480560" cy="507492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2" y="155448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71232" y="186537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07808" y="19202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List[DocumentChunk]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21945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GlobalEntityRegistry (tag context)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2" y="256032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71232" y="287121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07808" y="29260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ExtractionResult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32004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  ├ List[ExtractedEntity]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34747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  └ List[ExtractedRule]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232" y="384048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KEY CLASSES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71232" y="415137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07808" y="42062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EntityExtractor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8" y="44805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ExtractionResult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8" y="47548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ExtractedEntity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8" y="50292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ExtractedRule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53035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DocumentChunk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2" y="566928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TECHNOLOGIES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571232" y="598017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607808" y="60350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Ollama (local LLM runtime)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63093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Qwen 2.5 14B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65836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LangChain OllamaLLM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7808" y="68580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Pydantic v2 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7808" y="71323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JSON structured 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71232" y="749808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STATUS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571232" y="780897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589520" y="7891272"/>
            <a:ext cx="1280160" cy="237744"/>
          </a:xfrm>
          <a:prstGeom prst="round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07808" y="7863840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COMPLETE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4320" y="118872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" y="566928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31F24"/>
                </a:solidFill>
              </a:rPr>
              <a:t>SECTION  Phase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</a:rPr>
              <a:t>Cross-Modal Entity Linking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B4D8"/>
                </a:solidFill>
              </a:rPr>
              <a:t>This section covers: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73552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Step 1: O(1) exact canonical match across Control Narrative, C&amp;E Table, P&amp;ID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67328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Step 2: RapidFuzz token_sort_ratio ≥ 85  →  TAG_MISMATCH finding raised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61104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Step 3: all-MiniLM-L6-v2 cosine similarity ≥ 0.75  →  semantic link confirmed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07-10-2026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Amrita School of Computing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Phase 3  —  Cross-Modal Entity Linking  :  Implementation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3-step cascade: Exact → RapidFuzz ≥ 85 → all-MiniLM-L6-v2 cosine ≥ 0.75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417320"/>
            <a:ext cx="6949440" cy="50749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A3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527048"/>
            <a:ext cx="662025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src/linking/cross_modal_linker.py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from rapidfuzz.fuzz import token_sort_ratio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from sentence_transformers import SentenceTransformer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from sklearn.metrics.pairwise import cosine_similarity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CrossModalLinker: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def __init__(self):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self.model = SentenceTransformer('all-MiniLM-L6-v2')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def link(entities, rules, pid_tags):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canonical: dict[str, List[ExtractedEntity]] = {}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# Step 1 — Exact canonical match  O(1) hash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tag_map = {e.tag.upper(): e for e in entities}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for pid_tag in pid_tags: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if pid_tag.upper() in tag_map: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_merge(canonical, pid_tag, tag_map[pid_tag.upper()])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# Step 2 — Fuzzy match  (RapidFuzz token_sort_ratio)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for a, b in combinations(entities, 2):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score = token_sort_ratio(a.tag, b.tag) / 100.0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if score &gt;= 0.85:          # threshold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findings.append(AuditFinding(TAG_MISMATCH,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description=f'{a.tag} ~ {b.tag}  score={score:.2f}'))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# Step 3 — Embedding cosine similarity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tags = [e.tag for e in entities]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embeds = self.model.encode(tags)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sim_matrix = cosine_similarity(embeds)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for i, j in combinations(range(len(tags)), 2):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if sim_matrix[i][j] &gt;= 0.75:   # threshold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_merge(canonical, tags[i], entities[j])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return [LinkedEntity.from_group(g)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      for g in canonical.values()]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417320"/>
            <a:ext cx="4480560" cy="507492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2" y="155448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71232" y="186537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07808" y="19202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List[ExtractedEntity] (3 modalities)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21945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List[ExtractedRule]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24688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List[str] pid_tags from Phase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2" y="283464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OUTPUT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71232" y="314553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07808" y="32004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List[LinkedEntity]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34747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  (canonical merged entities)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37490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TAG_MISMATCH AuditFindings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2" y="411480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CASCADE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71232" y="442569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07808" y="44805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Step 1: exact match  O(1)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8" y="47548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Step 2: RapidFuzz ≥ 0.85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8" y="50292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Step 3: cosine sim ≥ 0.75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1232" y="539496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TECHNOLOGIES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571232" y="570585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607808" y="57607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RapidFuzz (fuzzy string)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60350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sentence-transformers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63093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all-MiniLM-L6-v2 (80MB)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65836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sklearn cosine_similarity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71232" y="694944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CONFIG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571232" y="726033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607808" y="73152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enable_cross_modal_linking=True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07808" y="75895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(ablation flag — can disable)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71232" y="795528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STATUS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571232" y="826617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589520" y="8348472"/>
            <a:ext cx="1280160" cy="237744"/>
          </a:xfrm>
          <a:prstGeom prst="round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07808" y="8321040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COMPLETE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4320" y="118872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" y="566928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4B5"/>
                </a:solidFill>
              </a:rPr>
              <a:t>SECTION  Phase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</a:rPr>
              <a:t>Knowledge Graph 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B4D8"/>
                </a:solidFill>
              </a:rPr>
              <a:t>This section covers: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73552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NetworkX DiGraph: nodes = canonical equipment tags, edges = control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67328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Semantic edges added: sensors linked to co-located equipment via tag suffix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61104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Self-contained vis.js HTML export (688 KB bundled — no CDN, works offline)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07-10-2026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Amrita School of Computing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Phase 4  —  Knowledge Graph Construction  :  Implementation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NetworkX DiGraph · Equipment nodes · Control-rule edges · vis.js inline HTML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417320"/>
            <a:ext cx="6949440" cy="50749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527048"/>
            <a:ext cx="662025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src/knowledge/graph_builder.py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import networkx as nx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_CLASS_COLORS = {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CE9B78"/>
                </a:solidFill>
              </a:rPr>
              <a:t>  'Pump': '#4fc3f7',  'Valve': '#81c784',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CE9B78"/>
                </a:solidFill>
              </a:rPr>
              <a:t>  'Sensor': '#ffb74d', 'Controller': '#ce93d8',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CE9B78"/>
                </a:solidFill>
              </a:rPr>
              <a:t>  'Interlock': '#ef9a9a', 'Alarm': '#fff176',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}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KnowledgeGraphBuilder: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def build(linked_entities, rules) -&gt; EquipmentGraph: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G = nx.DiGraph()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# Nodes = canonical equipment tags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for entity in linked_entities: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G.add_node(entity.canonical_tag,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entity_class=entity.entity_class,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description=entity.description)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# Edges = control rules (condition → action)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for rule in rules: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edge_label = (f'{rule.condition_operator}'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          f'{rule.condition_threshold}'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          f'{rule.condition_unit}→{rule.action}')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G.add_edge(rule.condition_tag,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rule.equipment_tag, label=edge_label)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# Semantic edges (sensor → co-located equipment)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self._add_class_relationships(G, linked_entities)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return EquipmentGraph(G, G.number_of_nodes(),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                G.number_of_edges())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EquipmentGraph: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def to_pyvis_html(self, output_path):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# Embeds vis-network.min.js inline (688 KB)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# No CDN dependency — works in offline/firewalled env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html = _make_vis_html(nodes_data, edges_data)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output_path.write_text(html, encoding='utf-8')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417320"/>
            <a:ext cx="4480560" cy="507492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2" y="155448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71232" y="186537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07808" y="19202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List[LinkedEntity]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21945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List[ExtractedRule]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2" y="256032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71232" y="287121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07808" y="29260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EquipmentGraph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32004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  ├ nx.DiGraph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34747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  └ vis.js HTML (self-contained)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232" y="384048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KEY CLASSES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71232" y="415137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07808" y="42062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KnowledgeGraphBuilder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8" y="44805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EquipmentGraph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8" y="47548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_make_vis_html()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2" y="512064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TECHNOLOGIES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71232" y="543153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607808" y="54864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NetworkX DiGraph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7808" y="57607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vis.js 9.1.9 (inline embed)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60350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Streamlit st.iframe()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63093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OpenCV color nodes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1232" y="667512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DESIGN NOTE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571232" y="698601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607808" y="70408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vis-network.min.js bundled locally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7808" y="73152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avoids corporate CDN block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71232" y="768096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STATUS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571232" y="799185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589520" y="8074152"/>
            <a:ext cx="1280160" cy="237744"/>
          </a:xfrm>
          <a:prstGeom prst="round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7808" y="8046720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COMPLETE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4320" y="118872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" y="566928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31F24"/>
                </a:solidFill>
              </a:rPr>
              <a:t>SECTION  Phase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</a:rPr>
              <a:t>Intermediate Representation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B4D8"/>
                </a:solidFill>
              </a:rPr>
              <a:t>This section covers: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73552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Pydantic v2 ControlRule model: condition (Condition), action (RuleAction enum)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67328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RuleAction enum: STOP / START / OPEN / CLOSE / TRIP — strict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61104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confidence &lt; 0.7 → needs_review=True  →  feeds Phase 7 TAG_MISMATCH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07-10-2026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Amrita School of Computing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Phase 5  —  Intermediate Representation  :  Implementation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Pydantic v2 ControlRule model · RuleAction enum · Confidence-based review flag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417320"/>
            <a:ext cx="6949440" cy="50749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A3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527048"/>
            <a:ext cx="662025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src/ir/rule_builder.py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from pydantic import BaseModel, field_validator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from enum import Enum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RuleAction(str, Enum):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STOP  = 'STOP'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START = 'START'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OPEN  = 'OPEN'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CLOSE = 'CLOSE'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TRIP  = 'TRIP'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Condition(BaseModel):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sensor_tag: str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operator:   str   # '&gt;', '&lt;', '&gt;=', '&lt;='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threshold:  float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unit:       str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ControlRule(BaseModel):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rule_id:       str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condition:     Condition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action:        RuleAction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equipment_tag: str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confidence:    float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needs_review:  bool = False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iec_clause:    str  = ''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RuleBuilder: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def build(raw_rules) -&gt; List[ControlRule]: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ir_rules = []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for r in raw_rules: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try: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rule = ControlRule(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condition=Condition(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  sensor_tag=r.condition_tag,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  operator=r.condition_operator,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  threshold=r.condition_threshold,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  unit=r.condition_unit),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action=RuleAction[r.action.upper()],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confidence=r.confidence,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needs_review=(r.confidence &lt; 0.7))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ir_rules.append(rule)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except (ValidationError, KeyError) as e: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logger.warning(f'Skipped {r.rule_id}: {e}')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return ir_rules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417320"/>
            <a:ext cx="4480560" cy="507492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2" y="155448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71232" y="186537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07808" y="19202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List[ExtractedRule] (from Phase 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2" y="228600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OUTPUT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71232" y="259689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607808" y="26517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List[ControlRule]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29260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  (Pydantic v2 validated)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2" y="329184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KEY CLASSES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71232" y="360273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07808" y="36576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RuleBuilder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39319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ControlRule (BaseModel)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8" y="42062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Condition (BaseModel)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8" y="44805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RuleAction (str, Enum)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2" y="484632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VALIDATION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71232" y="515721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07808" y="52120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confidence &lt; 0.7 → needs_review=True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8" y="54864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Unknown action → ValidationError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7808" y="57607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Missing tag → skipped + warned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71232" y="612648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TECHNOLOGIES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571232" y="643737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607808" y="64922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Pydantic v2 (BaseModel)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7808" y="67665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Python Enum (str)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71232" y="713232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STATUS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571232" y="744321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589520" y="7525512"/>
            <a:ext cx="1280160" cy="237744"/>
          </a:xfrm>
          <a:prstGeom prst="round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07808" y="7498080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COMPLETE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4320" y="118872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" y="566928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4B5"/>
                </a:solidFill>
              </a:rPr>
              <a:t>SECTION  Phase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</a:rPr>
              <a:t>IEC 61511 Invariant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B4D8"/>
                </a:solidFill>
              </a:rPr>
              <a:t>This section covers: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73552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19 IEC 61511 safety requirement templates across 5 JSON category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67328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Each template: required_entity_class, required_rule_type, iec_clause, severity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61104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evaluate_coverage() → CoverageResult per invariant (covered: bool)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07-10-2026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Amrita School of Computing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Phase 6  —  IEC 61511 Invariant Coverage  :  Implementation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19 IEC 61511 safety requirement templates · JSON template library · Coverage gap detection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417320"/>
            <a:ext cx="6949440" cy="50749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527048"/>
            <a:ext cx="662025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src/invariants/ + data/invariant_templates/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19 templates across 5 JSON category files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Template example — pump_hh_shutdown.json: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{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  'invariant_id': 'INV-001',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  'description': 'High-High Pressure Shutdown',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  'required_entity_class': 'Pump',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  'required_rule_type': 'SHUTDOWN',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  'condition_type': 'PRESSURE_HH',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  'iec_clause': 'IEC 61511-1 §11.4',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  'severity_if_missing': 'HIGH'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}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SafetyInvariantLibrary: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def load(templates_dir):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for f in templates_dir.glob('*.json'):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self.invariants.extend(json.loads(f.read_text()))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# Also loads HIGH-severity rules from standards_kb_*.json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logger.info(f'{len(self.invariants)} invariants loaded')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def evaluate_coverage(rules, entities):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for inv in self.invariants: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  # Find relevant equipment for this invariant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relevant = [e for e in entities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  if e.entity_class == inv.required_entity_class]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  # Check if any rule covers this invariant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covered = any(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r.action.name == inv.required_rule_type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and any(e.canonical_tag in (r.condition_tag,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      r.equipment_tag) for e in relevant)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  for r in rules)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yield CoverageResult(inv, covered, relevant)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# Example: 0/19 → Phase 7 finds 19 OMISSIONS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417320"/>
            <a:ext cx="4480560" cy="507492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2" y="155448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71232" y="186537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07808" y="19202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List[ControlRule] (from Phase 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21945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List[LinkedEntity] (from Phase 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2" y="256032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71232" y="287121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07808" y="29260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List[CoverageResult]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32004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  (covered: bool per invariant)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2" y="356616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TEMPLATES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71232" y="387705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07808" y="39319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19 IEC 61511 templates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8" y="42062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5 JSON category files: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8" y="44805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  pump / valve / sensor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8" y="47548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  interlock / alarm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2" y="512064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IEC CLAUSES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71232" y="543153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607808" y="54864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§11.4  Shutdown 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7808" y="57607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§11.5  Alarm requirements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60350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§10.3  Interlock logic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63093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§9.4   ESD propagation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1232" y="667512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TECHNOLOGIES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571232" y="698601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607808" y="70408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JSON file loading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7808" y="73152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Python dataclasses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07808" y="75895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Standards KB (SQLite)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71232" y="795528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STATUS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571232" y="826617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589520" y="8348472"/>
            <a:ext cx="1280160" cy="237744"/>
          </a:xfrm>
          <a:prstGeom prst="round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07808" y="8321040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COMPLETE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4320" y="118872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" y="566928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31F24"/>
                </a:solidFill>
              </a:rPr>
              <a:t>SECTION  Phase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</a:rPr>
              <a:t>Z3 Formal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B4D8"/>
                </a:solidFill>
              </a:rPr>
              <a:t>This section covers: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73552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Pass 1 — OMISSION: uncovered invariants → HIGH/MEDIUM AuditFinding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67328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Pass 2 — CONTRADICTION: Z3 Solver(Implies(cond, a1), a1≠a2) == unsat → HIGH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61104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Pass 3 — TAG_MISMATCH: needs_review=True rules from Phase 5 → MEDIUM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07-10-2026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Amrita School of Computing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Phase 7  —  Z3 Formal Verification  :  Implementation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3-pass Z3 SMT verification: OMISSION · CONTRADICTION (UNSAT) · TAG_MISMATCH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417320"/>
            <a:ext cx="6949440" cy="50749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A3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527048"/>
            <a:ext cx="662025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src/verification/z3_auditor.py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from z3 import Bool, Solver, Implies, unsat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from itertools import combinations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Z3Auditor: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def audit(rules, coverage_results) -&gt; List[AuditFinding]: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findings = []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# ── Pass 1: OMISSION ─────────────────────────────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for cov in coverage_results: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if not cov.covered: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findings.append(AuditFinding(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finding_type = FindingType.OMISSION,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severity     = FindingSeverity[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  cov.invariant.severity_if_missing],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description  = f'Missing: {cov.invariant.description}',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iec_clause   = cov.invariant.iec_clause))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# ── Pass 2: CONTRADICTION  (Z3 UNSAT) ────────────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for r1, r2 in combinations(rules, 2):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if r1.condition.sensor_tag == r2.condition.sensor_tag: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solver = Solver()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s = Bool(r1.condition.sensor_tag)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a1 = Bool(r1.action.name)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a2 = Bool(r2.action.name)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solver.add(Implies(s, a1))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solver.add(Implies(s, a2))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solver.add(a1 != a2)    # conflict axiom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  if solver.check() == unsat: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findings.append(AuditFinding(CONTRADICTION))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# ── Pass 3: TAG_MISMATCH  (needs_review flag) ────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for r in rules: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if r.needs_review: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findings.append(AuditFinding(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finding_type = FindingType.TAG_MISMATCH,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severity     = FindingSeverity.MEDIUM,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description  = f'Low-confidence rule: {r.rule_id}'))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return findings   # HIGH / MEDIUM / 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417320"/>
            <a:ext cx="4480560" cy="507492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2" y="155448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71232" y="186537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07808" y="19202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List[ControlRule] (from Phase 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21945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List[CoverageResult] (from Phase 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2" y="256032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71232" y="287121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07808" y="29260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List[AuditFinding]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32004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  (typed + severity-rated)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2" y="356616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3 PASSES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71232" y="387705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07808" y="39319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OMISSION: uncovered invariants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8" y="42062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CONTRADICTION: Z3 UNSAT proof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8" y="44805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TAG_MISMATCH: needs_review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2" y="484632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FINDING TYPES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71232" y="515721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07808" y="52120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FindingType.OMISSION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8" y="54864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FindingType.CONTRADICTION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7808" y="57607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FindingType.TAG_MISMATCH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71232" y="612648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TECHNOLOGIES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571232" y="643737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607808" y="64922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Microsoft Z3 v4.13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7808" y="67665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z3-solver Python binding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7808" y="70408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itertools.combinations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71232" y="740664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STATUS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571232" y="771753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589520" y="7799832"/>
            <a:ext cx="1280160" cy="237744"/>
          </a:xfrm>
          <a:prstGeom prst="round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07808" y="7772400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COMPLETE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4320" y="118872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" y="566928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4B5"/>
                </a:solidFill>
              </a:rPr>
              <a:t>SECTION  Phase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</a:rPr>
              <a:t>Audit Report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B4D8"/>
                </a:solidFill>
              </a:rPr>
              <a:t>This section covers: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73552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Jinja2 HTML report: color-coded findings table, IEC clause references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67328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AuditReport dataclass: findings, rules, invariant_summary, extraction_stats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61104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is_real_data=True adds a caution banner; safe for real industrial documents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07-10-2026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Amrita School of Computing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Phase 8  —  Audit Report Generation  :  Implementation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Jinja2 HTML report · Severity-color-coded findings table · IEC 61511 clause references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417320"/>
            <a:ext cx="6949440" cy="50749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527048"/>
            <a:ext cx="662025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src/reporting/report_generator.py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from jinja2 import Environment, FileSystemLoader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from dataclasses import dataclass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from datetime import datetime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CE9B78"/>
                </a:solidFill>
              </a:rPr>
              <a:t>@dataclass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AuditReport: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input_source:      str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generated_at:      datetime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findings:          List[AuditFinding]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rules:             List[ControlRule]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invariant_summary: List[dict]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extraction_stats:  dict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is_real_data:      bool = False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ReportGenerator: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def __init__(self, templates_dir):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self.env = Environment(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loader=FileSystemLoader(templates_dir))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def generate(report: AuditReport, output_path: Path):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template = self.env.get_template(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CE9B78"/>
                </a:solidFill>
              </a:rPr>
              <a:t>      'audit_report.html.j2')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html = template.render(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report=report,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findings_by_severity={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CE9B78"/>
                </a:solidFill>
              </a:rPr>
              <a:t>        'HIGH':   [f for f in report.findings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             if f.severity == HIGH],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CE9B78"/>
                </a:solidFill>
              </a:rPr>
              <a:t>        'MEDIUM': [f for f in report.findings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             if f.severity == MEDIUM],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CE9B78"/>
                </a:solidFill>
              </a:rPr>
              <a:t>        'LOW':    [f for f in report.findings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             if f.severity == LOW],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}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output_path.write_text(html, encoding='utf-8')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return output_path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# Template renders: color-coded findings table,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# IEC clause links, invariant coverage summary,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# extraction stats, real-data caution banner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417320"/>
            <a:ext cx="4480560" cy="507492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2" y="155448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71232" y="186537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07808" y="19202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AuditReport dataclass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21945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  ├ findings (typed + severity)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24688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  ├ rules (ControlRule)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27432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  └ extraction_stats (dict)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2" y="310896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OUTPUT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71232" y="341985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07808" y="34747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audit_report.html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37490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  (Jinja2 rendered, standalone)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2" y="411480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REPORT SECTIONS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71232" y="442569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07808" y="44805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Findings table (color by severity)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8" y="47548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IEC 61511 clause references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8" y="50292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Invariant coverage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53035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Pipeline execution stats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8" y="55778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Real-data caution banner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71232" y="594360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TECHNOLOGIES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571232" y="625449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607808" y="63093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Jinja2 templating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65836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HTML/CSS (Bootstrap-like)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7808" y="68580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Python dataclasses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71232" y="722376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FILES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571232" y="753465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607808" y="75895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src/reporting/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78638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templates/audit_report.html.j2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71232" y="822960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STATUS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571232" y="854049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589520" y="8622792"/>
            <a:ext cx="1280160" cy="237744"/>
          </a:xfrm>
          <a:prstGeom prst="round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7808" y="8595360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COMPLETE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4320" y="118872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" y="566928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31F24"/>
                </a:solidFill>
              </a:rPr>
              <a:t>SECTION  Phase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</a:rPr>
              <a:t>PLC Structured Text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B4D8"/>
                </a:solidFill>
              </a:rPr>
              <a:t>This section covers: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73552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Jinja2 template renders one IF-THEN block per verified ControlRule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67328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AUDIT NOTE comments injected inline for every OMISSION/CONTRADICTION finding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61104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Output: IEC 61131-3 Structured Text (.st) — draft skeleton for SIL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07-10-2026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Amrita School of Computing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Phase 9  —  PLC Structured Text Generation  :  Implementation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IEC 61131-3 Structured Text · AUDIT NOTE injection · Draft skeleton for SIL engineer review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417320"/>
            <a:ext cx="6949440" cy="50749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A3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527048"/>
            <a:ext cx="662025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src/plc/code_generator.py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Generates IEC 61131-3 Structured Text (.st)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PLCCodeGenerator: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def generate(rules, output_path, program_name):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template = self.env.get_template('plc.st.j2')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code = template.render(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rules=rules,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program_name=program_name,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generated_at=datetime.now())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output_path.write_text(code, encoding='utf-8')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return output_path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── Generated Structured Text (plc.st.j2) ────────────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PROGRAM ControlNarrative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VAR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  PT_101 : REAL;  (* Pressure Transmitter *)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  XV_201 : BOOL;  (* Shutoff Valve        *)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  P_001  : BOOL;  (* Feed Pump            *)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END_VAR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(* Rule R0001 — control-narrative.pdf p.4 *)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IF PT_101 &gt; 50.0 THEN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  XV_201 := FALSE;   (* CLOSE *)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  P_001  := FALSE;   (* STOP  *)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END_IF;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(* AUDIT NOTE [INV-001]:                     *)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(* OMISSION — No High-High shutdown for PT-101 *)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(* IEC 61511-1 §11.4   Severity: HIGH        *)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(* WARNING: Draft skeleton only.             *)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(* Must be reviewed by a qualified SIL engineer *)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417320"/>
            <a:ext cx="4480560" cy="507492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2" y="155448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71232" y="186537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07808" y="19202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List[ControlRule] (from Phase 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21945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List[AuditFinding] (from Phase 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24688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program_name: str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2" y="283464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OUTPUT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71232" y="314553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07808" y="32004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plc_output.st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34747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  (IEC 61131-3 Structured Text)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232" y="384048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ST STRUCTURE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71232" y="415137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07808" y="42062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PROGRAM block declaration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8" y="44805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VAR section (auto-typed)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8" y="47548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One IF-THEN block per rule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8" y="50292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AUDIT NOTE comments inline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53035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WARNING banner at 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2" y="566928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TECHNOLOGIES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571232" y="598017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607808" y="60350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Jinja2 templating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63093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IEC 61131-3 standard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65836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Python dataclasses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71232" y="694944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SAFETY NOTE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571232" y="726033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607808" y="73152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Draft skeleton 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07808" y="75895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Requires qualified SIL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78638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Not for production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71232" y="822960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55E"/>
                </a:solidFill>
              </a:rPr>
              <a:t>STATUS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571232" y="854049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589520" y="8622792"/>
            <a:ext cx="1280160" cy="237744"/>
          </a:xfrm>
          <a:prstGeom prst="round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7808" y="8595360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COMPLETE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4320" y="118872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" y="566928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979D"/>
                </a:solidFill>
              </a:rPr>
              <a:t>SECTION  Bonus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</a:rPr>
              <a:t>Standards Knowledge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B4D8"/>
                </a:solidFill>
              </a:rPr>
              <a:t>This section covers: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73552"/>
            <a:ext cx="54864" cy="3291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SQLite-backed rule store — rules extracted from IEC 61511 standard text via LLM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67328"/>
            <a:ext cx="54864" cy="3291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HIGH-severity rules automatically promote to SafetyInvariantLibrary (Phase 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61104"/>
            <a:ext cx="54864" cy="32918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StandardsKnowledgeGraph: IEC clause → affected equipment class (NetworkX)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07-10-2026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Amrita School of Computing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Standards Knowledge Base  :  Implementation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SQLite-backed IEC 61511 rule store · Auto-populates InvariantLibrary (Phase 6)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417320"/>
            <a:ext cx="6949440" cy="50749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527048"/>
            <a:ext cx="662025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src/standards/  —  Standards Knowledge Base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SQLite-backed, built from IEC 61511 standard text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SafetyRule(TypedDict):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rule_id:     str       # e.g. 'IEC-61511-11.4.1'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clause:      str       # e.g. '§11.4.1'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description: str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severity:    str       # HIGH / MEDIUM / LOW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applies_to:  List[str] # entity classes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keywords:    List[str]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StandardsDB: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def __init__(self, db_path: Path):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self.conn = sqlite3.connect(str(db_path))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self._create_tables()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def query_rules_for_entity(entity_class, context):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# Exact class match + keyword similarity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return self.conn.execute(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CE9B78"/>
                </a:solidFill>
              </a:rPr>
              <a:t>      'SELECT * FROM safety_rules WHERE '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CE9B78"/>
                </a:solidFill>
              </a:rPr>
              <a:t>      'applies_to LIKE ? AND '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CE9B78"/>
                </a:solidFill>
              </a:rPr>
              <a:t>      'severity = "HIGH"',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(f'%{entity_class}%',)).fetchall()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class StandardsKnowledgeGraph: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def build_from_standards_db(db):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# Graph: IEC clause → affected equipment class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    # Used to auto-populate InvariantLibrary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for rule in db.query_all():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G.add_node(rule['clause'],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rule_type='standard',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severity=rule['severity'])</a:t>
            </a:r>
          </a:p>
          <a:p>
            <a:pPr algn="l">
              <a:spcBef>
                <a:spcPts val="50"/>
              </a:spcBef>
            </a:pPr>
            <a:r>
              <a:rPr sz="1150" b="1">
                <a:solidFill>
                  <a:srgbClr val="79B8FF"/>
                </a:solidFill>
              </a:rPr>
              <a:t>      for ec in rule['applies_to']: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G.add_edge(rule['clause'], ec,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>          label=rule['description'][:60])</a:t>
            </a:r>
          </a:p>
          <a:p>
            <a:pPr algn="l">
              <a:spcBef>
                <a:spcPts val="50"/>
              </a:spcBef>
            </a:pPr>
            <a:r>
              <a:rPr sz="1150">
                <a:solidFill>
                  <a:srgbClr val="E0E0FF"/>
                </a:solidFill>
              </a:rPr>
              <a:t/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Standards DB populated by run_standards_update.py</a:t>
            </a:r>
          </a:p>
          <a:p>
            <a:pPr algn="l">
              <a:spcBef>
                <a:spcPts val="50"/>
              </a:spcBef>
            </a:pPr>
            <a:r>
              <a:rPr sz="1150" i="1">
                <a:solidFill>
                  <a:srgbClr val="6A9955"/>
                </a:solidFill>
              </a:rPr>
              <a:t># (offline LLM extraction — ~3-4 hours on CPU)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417320"/>
            <a:ext cx="4480560" cy="507492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2" y="155448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E0D8"/>
                </a:solidFill>
              </a:rPr>
              <a:t>PURPOSE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71232" y="186537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07808" y="19202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Extend invariant library with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21945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rules extracted directly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24688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from IEC 61511 standard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2" y="283464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E0D8"/>
                </a:solidFill>
              </a:rPr>
              <a:t>KEY CLASSES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71232" y="314553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07808" y="32004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StandardsDB (SQLite)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34747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SafetyRule (TypedDict)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37490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StandardsKnowledgeGraph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40233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run_standards_update.py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1232" y="438912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E0D8"/>
                </a:solidFill>
              </a:rPr>
              <a:t>DB SCHEMA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571232" y="470001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607808" y="47548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safety_rules table: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8" y="50292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  rule_id, clause,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53035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  description, severity,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8" y="55778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  applies_to, keywords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71232" y="594360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E0D8"/>
                </a:solidFill>
              </a:rPr>
              <a:t>INTEGRATION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571232" y="625449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607808" y="63093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HIGH-severity rules → auto-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658368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added to InvariantLibrary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7808" y="685800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(Phase 6) at runtime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71232" y="722376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E0D8"/>
                </a:solidFill>
              </a:rPr>
              <a:t>TECHNOLOGIES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571232" y="753465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607808" y="758952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SQLite (stdlib)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786384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NetworkX DiGraph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07808" y="8138160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F1"/>
                </a:solidFill>
              </a:rPr>
              <a:t>·  Ollama (offline extraction)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71232" y="8503920"/>
            <a:ext cx="4151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E0D8"/>
                </a:solidFill>
              </a:rPr>
              <a:t>STATUS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571232" y="8814816"/>
            <a:ext cx="4151376" cy="0"/>
          </a:xfrm>
          <a:prstGeom prst="line">
            <a:avLst/>
          </a:prstGeom>
          <a:ln w="6350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589520" y="8897112"/>
            <a:ext cx="1280160" cy="237744"/>
          </a:xfrm>
          <a:prstGeom prst="roundRect">
            <a:avLst/>
          </a:prstGeom>
          <a:solidFill>
            <a:srgbClr val="CC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07808" y="8869680"/>
            <a:ext cx="1261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 Progress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4320" y="118872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" y="566928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31F24"/>
                </a:solidFill>
              </a:rPr>
              <a:t>SECTION  §01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</a:rPr>
              <a:t>Standard Algorithms &amp;
Evaluation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B4D8"/>
                </a:solidFill>
              </a:rPr>
              <a:t>This section covers: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73552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Z3 SMT Contradiction Checker — formal proof of rule conflicts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67328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Cross-Modal Entity Linking — 3-step cascade (Exact → Fuzzy → Embedding)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61104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Evaluation on 50-package synthetic benchmark · P / R / 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07-10-2026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Amrita School of Computing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Standard Algorithm:  Z3 Contradiction Checker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Formal verification of safety rules using Microsoft Z3 SMT solver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417320"/>
            <a:ext cx="5623560" cy="50749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508760"/>
            <a:ext cx="53492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r>
              <a:rPr sz="1300" b="1">
                <a:solidFill>
                  <a:srgbClr val="79B8FF"/>
                </a:solidFill>
              </a:rPr>
              <a:t>FUNCTION verify_contradictions(rule_list):</a:t>
            </a:r>
          </a:p>
          <a:p>
            <a:r>
              <a:rPr sz="1300">
                <a:solidFill>
                  <a:srgbClr val="E0E0FF"/>
                </a:solidFill>
              </a:rPr>
              <a:t>  solver ← Z3_Solver()</a:t>
            </a:r>
          </a:p>
          <a:p>
            <a:r>
              <a:rPr sz="1300">
                <a:solidFill>
                  <a:srgbClr val="E0E0FF"/>
                </a:solidFill>
              </a:rPr>
              <a:t>  tag_vars ← {}</a:t>
            </a:r>
          </a:p>
          <a:p>
            <a:r>
              <a:rPr sz="1300">
                <a:solidFill>
                  <a:srgbClr val="E0E0FF"/>
                </a:solidFill>
              </a:rPr>
              <a:t/>
            </a:r>
          </a:p>
          <a:p>
            <a:r>
              <a:rPr sz="1300" i="1">
                <a:solidFill>
                  <a:srgbClr val="6A9955"/>
                </a:solidFill>
              </a:rPr>
              <a:t>  // Step 1: Create one Boolean Z3 variable per tag</a:t>
            </a:r>
          </a:p>
          <a:p>
            <a:r>
              <a:rPr sz="1300" b="1">
                <a:solidFill>
                  <a:srgbClr val="79B8FF"/>
                </a:solidFill>
              </a:rPr>
              <a:t>  FOR EACH rule IN rule_list:</a:t>
            </a:r>
          </a:p>
          <a:p>
            <a:r>
              <a:rPr sz="1300" b="1">
                <a:solidFill>
                  <a:srgbClr val="79B8FF"/>
                </a:solidFill>
              </a:rPr>
              <a:t>    FOR EACH tag IN rule.tags:</a:t>
            </a:r>
          </a:p>
          <a:p>
            <a:r>
              <a:rPr sz="1300" b="1">
                <a:solidFill>
                  <a:srgbClr val="79B8FF"/>
                </a:solidFill>
              </a:rPr>
              <a:t>      IF tag NOT IN tag_vars:</a:t>
            </a:r>
          </a:p>
          <a:p>
            <a:r>
              <a:rPr sz="1300">
                <a:solidFill>
                  <a:srgbClr val="E0E0FF"/>
                </a:solidFill>
              </a:rPr>
              <a:t>        tag_vars[tag] ← Bool(tag)</a:t>
            </a:r>
          </a:p>
          <a:p>
            <a:r>
              <a:rPr sz="1300">
                <a:solidFill>
                  <a:srgbClr val="E0E0FF"/>
                </a:solidFill>
              </a:rPr>
              <a:t/>
            </a:r>
          </a:p>
          <a:p>
            <a:r>
              <a:rPr sz="1300" i="1">
                <a:solidFill>
                  <a:srgbClr val="6A9955"/>
                </a:solidFill>
              </a:rPr>
              <a:t>  // Step 2: Add each rule as a Z3 assertion</a:t>
            </a:r>
          </a:p>
          <a:p>
            <a:r>
              <a:rPr sz="1300" b="1">
                <a:solidFill>
                  <a:srgbClr val="79B8FF"/>
                </a:solidFill>
              </a:rPr>
              <a:t>  FOR EACH rule IN rule_list:</a:t>
            </a:r>
          </a:p>
          <a:p>
            <a:r>
              <a:rPr sz="1300">
                <a:solidFill>
                  <a:srgbClr val="E0E0FF"/>
                </a:solidFill>
              </a:rPr>
              <a:t>    cond   ← build_z3_expr(rule.trigger, tag_vars)</a:t>
            </a:r>
          </a:p>
          <a:p>
            <a:r>
              <a:rPr sz="1300">
                <a:solidFill>
                  <a:srgbClr val="E0E0FF"/>
                </a:solidFill>
              </a:rPr>
              <a:t>    action ← build_z3_expr(rule.action,  tag_vars)</a:t>
            </a:r>
          </a:p>
          <a:p>
            <a:r>
              <a:rPr sz="1300">
                <a:solidFill>
                  <a:srgbClr val="E0E0FF"/>
                </a:solidFill>
              </a:rPr>
              <a:t>    solver.add( Implies(cond, action) )</a:t>
            </a:r>
          </a:p>
          <a:p>
            <a:r>
              <a:rPr sz="1300">
                <a:solidFill>
                  <a:srgbClr val="E0E0FF"/>
                </a:solidFill>
              </a:rPr>
              <a:t/>
            </a:r>
          </a:p>
          <a:p>
            <a:r>
              <a:rPr sz="1300" i="1">
                <a:solidFill>
                  <a:srgbClr val="6A9955"/>
                </a:solidFill>
              </a:rPr>
              <a:t>  // Step 3: Check satisfiability</a:t>
            </a:r>
          </a:p>
          <a:p>
            <a:r>
              <a:rPr sz="1300" b="1">
                <a:solidFill>
                  <a:srgbClr val="79B8FF"/>
                </a:solidFill>
              </a:rPr>
              <a:t>  IF solver.check() == UNSAT:</a:t>
            </a:r>
          </a:p>
          <a:p>
            <a:r>
              <a:rPr sz="1300" b="1">
                <a:solidFill>
                  <a:srgbClr val="79B8FF"/>
                </a:solidFill>
              </a:rPr>
              <a:t>    RETURN Finding(CONTRADICTION, HIGH)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417320"/>
            <a:ext cx="5852160" cy="50749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508760"/>
            <a:ext cx="55778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r>
              <a:rPr sz="1300" i="1">
                <a:solidFill>
                  <a:srgbClr val="6A9955"/>
                </a:solidFill>
              </a:rPr>
              <a:t>  // Step 4: Pairwise conflict check</a:t>
            </a:r>
          </a:p>
          <a:p>
            <a:r>
              <a:rPr sz="1300" b="1">
                <a:solidFill>
                  <a:srgbClr val="79B8FF"/>
                </a:solidFill>
              </a:rPr>
              <a:t>  FOR pair IN combinations(rule_list, 2):</a:t>
            </a:r>
          </a:p>
          <a:p>
            <a:r>
              <a:rPr sz="1300">
                <a:solidFill>
                  <a:srgbClr val="E0E0FF"/>
                </a:solidFill>
              </a:rPr>
              <a:t>    r1, r2 = pair</a:t>
            </a:r>
          </a:p>
          <a:p>
            <a:r>
              <a:rPr sz="1300" b="1">
                <a:solidFill>
                  <a:srgbClr val="79B8FF"/>
                </a:solidFill>
              </a:rPr>
              <a:t>    IF same_trigger(r1, r2) AND</a:t>
            </a:r>
          </a:p>
          <a:p>
            <a:r>
              <a:rPr sz="1300">
                <a:solidFill>
                  <a:srgbClr val="E0E0FF"/>
                </a:solidFill>
              </a:rPr>
              <a:t>       opposite_actions(r1, r2):</a:t>
            </a:r>
          </a:p>
          <a:p>
            <a:r>
              <a:rPr sz="1300" b="1">
                <a:solidFill>
                  <a:srgbClr val="79B8FF"/>
                </a:solidFill>
              </a:rPr>
              <a:t>      RETURN Finding(</a:t>
            </a:r>
          </a:p>
          <a:p>
            <a:r>
              <a:rPr sz="1300">
                <a:solidFill>
                  <a:srgbClr val="E0E0FF"/>
                </a:solidFill>
              </a:rPr>
              <a:t>        type     = CONTRADICTION,</a:t>
            </a:r>
          </a:p>
          <a:p>
            <a:r>
              <a:rPr sz="1300">
                <a:solidFill>
                  <a:srgbClr val="E0E0FF"/>
                </a:solidFill>
              </a:rPr>
              <a:t>        severity = HIGH,</a:t>
            </a:r>
          </a:p>
          <a:p>
            <a:r>
              <a:rPr sz="1300">
                <a:solidFill>
                  <a:srgbClr val="E0E0FF"/>
                </a:solidFill>
              </a:rPr>
              <a:t>        tags     = r1.tags ∪ r2.tags,</a:t>
            </a:r>
          </a:p>
          <a:p>
            <a:r>
              <a:rPr sz="1300">
                <a:solidFill>
                  <a:srgbClr val="E0E0FF"/>
                </a:solidFill>
              </a:rPr>
              <a:t>        message  = f'{r1.id} conflicts {r2.id}'</a:t>
            </a:r>
          </a:p>
          <a:p>
            <a:r>
              <a:rPr sz="1300">
                <a:solidFill>
                  <a:srgbClr val="E0E0FF"/>
                </a:solidFill>
              </a:rPr>
              <a:t>      )</a:t>
            </a:r>
          </a:p>
          <a:p>
            <a:r>
              <a:rPr sz="1300">
                <a:solidFill>
                  <a:srgbClr val="E0E0FF"/>
                </a:solidFill>
              </a:rPr>
              <a:t/>
            </a:r>
          </a:p>
          <a:p>
            <a:r>
              <a:rPr sz="1300" b="1">
                <a:solidFill>
                  <a:srgbClr val="79B8FF"/>
                </a:solidFill>
              </a:rPr>
              <a:t>  RETURN []  // No contradictions found</a:t>
            </a:r>
          </a:p>
          <a:p>
            <a:r>
              <a:rPr sz="1300">
                <a:solidFill>
                  <a:srgbClr val="E0E0FF"/>
                </a:solidFill>
              </a:rPr>
              <a:t/>
            </a:r>
          </a:p>
          <a:p>
            <a:r>
              <a:rPr sz="1300" i="1">
                <a:solidFill>
                  <a:srgbClr val="6A9955"/>
                </a:solidFill>
              </a:rPr>
              <a:t>// Same structure used for OMISSION pass</a:t>
            </a:r>
          </a:p>
          <a:p>
            <a:r>
              <a:rPr sz="1300" i="1">
                <a:solidFill>
                  <a:srgbClr val="6A9955"/>
                </a:solidFill>
              </a:rPr>
              <a:t>// (check invariant coverage gaps)</a:t>
            </a:r>
          </a:p>
          <a:p>
            <a:r>
              <a:rPr sz="1300" i="1">
                <a:solidFill>
                  <a:srgbClr val="6A9955"/>
                </a:solidFill>
              </a:rPr>
              <a:t>// and TAG_MISMATCH pass</a:t>
            </a:r>
          </a:p>
          <a:p>
            <a:r>
              <a:rPr sz="1300" i="1">
                <a:solidFill>
                  <a:srgbClr val="6A9955"/>
                </a:solidFill>
              </a:rPr>
              <a:t>// (fuzzy + embedding cross-doc comparison)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1463040"/>
            <a:ext cx="0" cy="4937760"/>
          </a:xfrm>
          <a:prstGeom prst="line">
            <a:avLst/>
          </a:prstGeom>
          <a:ln w="1270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Standard Algorithm:  Cross-Modal Entity Linking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3-step cascade linking entities across Control Narrative, C&amp;E Table, and P&amp;ID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1168" y="1417320"/>
            <a:ext cx="3840480" cy="5047488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1417320"/>
            <a:ext cx="3840480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152704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Step 1 — Exact Match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328" y="2057400"/>
            <a:ext cx="356616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65760" y="2276856"/>
            <a:ext cx="54864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" y="2148840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Input: entity tag from Document A (e.g.  PT-101)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81528"/>
            <a:ext cx="54864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2953512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Query: tag_b == tag_a  (case-insensitive)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86200"/>
            <a:ext cx="54864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" y="3758184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If match found  →  link confirmed (confidence = 1.0)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690872"/>
            <a:ext cx="54864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" y="4562856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Cost: O(1) hash lookup  |  Speed: &lt; 1 ms per pair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495544"/>
            <a:ext cx="54864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5367528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Example: PT-101 (narrative) == PT-101 (C&amp;E)  LINKED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096512" y="3941064.0"/>
            <a:ext cx="201168" cy="0.0"/>
          </a:xfrm>
          <a:prstGeom prst="line">
            <a:avLst/>
          </a:prstGeom>
          <a:ln w="2540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133088" y="3758184"/>
            <a:ext cx="146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75A"/>
                </a:solidFill>
              </a:rPr>
              <a:t>if
not
linked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1417320"/>
            <a:ext cx="3840480" cy="5047488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1417320"/>
            <a:ext cx="3840480" cy="548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152704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Step 2 — Fuzzy String Match  (RapidFuzz)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343400" y="2057400"/>
            <a:ext cx="356616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370832" y="2276856"/>
            <a:ext cx="54864" cy="548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2148840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Input: unlinked tags from Step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70832" y="3081528"/>
            <a:ext cx="54864" cy="548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8" y="2953512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Score = RapidFuzz.token_sort_ratio(tag_a, tag_b)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70832" y="3886200"/>
            <a:ext cx="54864" cy="548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98848" y="3758184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Threshold: score &gt;= 85  →  TAG_MISMATCH finding raised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0832" y="4690872"/>
            <a:ext cx="54864" cy="548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98848" y="4562856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Handles punctuation variants: PT-101 vs PT101  (score 0.92)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70832" y="5495544"/>
            <a:ext cx="54864" cy="548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98848" y="5367528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Example: FT-601 vs FT601  Score=0.960  MISMATCH reported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01584" y="3941064.0"/>
            <a:ext cx="201168" cy="0.0"/>
          </a:xfrm>
          <a:prstGeom prst="line">
            <a:avLst/>
          </a:prstGeom>
          <a:ln w="2540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138160" y="3758184"/>
            <a:ext cx="146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75A"/>
                </a:solidFill>
              </a:rPr>
              <a:t>if
not
linked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11312" y="1417320"/>
            <a:ext cx="3840480" cy="5047488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11312" y="1417320"/>
            <a:ext cx="3840480" cy="5486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48472" y="152704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Step 3 — Semantic Embedding Similarity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348472" y="2057400"/>
            <a:ext cx="356616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375904" y="2276856"/>
            <a:ext cx="54864" cy="5486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3920" y="2148840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Input: tags not linked by Steps 1-2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75904" y="3081528"/>
            <a:ext cx="54864" cy="5486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0" y="2953512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Model: all-MiniLM-L6-v2  (sentence-transformers)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75904" y="3886200"/>
            <a:ext cx="54864" cy="5486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3920" y="3758184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cos_sim = dot(embed_a, embed_b) / (|a| |b|)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75904" y="4690872"/>
            <a:ext cx="54864" cy="5486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03920" y="4562856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Threshold: cos_sim &gt;= 0.75  →  semantic link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75904" y="5495544"/>
            <a:ext cx="54864" cy="5486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03920" y="5367528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Example: LT201 vs Level Transmitter 201  sim=0.81  LINKED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41908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75A"/>
                </a:solidFill>
              </a:rPr>
              <a:t>All 3 steps run per entity-pair across all document pairs. Finding raised only on Step 2 (TAG_MISMATCH). Steps 1 and 3 are transparent links.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Evaluation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Tested on 50-package synthetic benchmark corpus  ·  5 defect categories  ·  Seed 42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463040"/>
            <a:ext cx="2240280" cy="10972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536192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75A"/>
                </a:solidFill>
              </a:rP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828800"/>
            <a:ext cx="20208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E74B5"/>
                </a:solidFill>
              </a:rPr>
              <a:t>0.960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304288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75A"/>
                </a:solidFill>
              </a:rPr>
              <a:t>No false alarms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9464" y="1463040"/>
            <a:ext cx="2240280" cy="10972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9192" y="1536192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75A"/>
                </a:solidFill>
              </a:rP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1828800"/>
            <a:ext cx="20208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7F37"/>
                </a:solidFill>
              </a:rPr>
              <a:t>0.880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9192" y="2304288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75A"/>
                </a:solidFill>
              </a:rPr>
              <a:t>Defects detected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64608" y="1463040"/>
            <a:ext cx="2240280" cy="10972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74336" y="1536192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75A"/>
                </a:solidFill>
              </a:rPr>
              <a:t>F1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4336" y="1828800"/>
            <a:ext cx="20208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030A0"/>
                </a:solidFill>
              </a:rPr>
              <a:t>0.918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74336" y="2304288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75A"/>
                </a:solidFill>
              </a:rPr>
              <a:t>Harmonic mean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59752" y="1463040"/>
            <a:ext cx="2240280" cy="10972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F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536192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75A"/>
                </a:solidFill>
              </a:rPr>
              <a:t>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1828800"/>
            <a:ext cx="20208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3F6B"/>
                </a:solidFill>
              </a:rPr>
              <a:t>0.925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304288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75A"/>
                </a:solidFill>
              </a:rPr>
              <a:t>Overall correct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54896" y="1463040"/>
            <a:ext cx="2240280" cy="10972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64624" y="1536192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75A"/>
                </a:solidFill>
              </a:rPr>
              <a:t>False Positive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64624" y="1828800"/>
            <a:ext cx="20208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02020"/>
                </a:solidFill>
              </a:rPr>
              <a:t>0.040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64624" y="2304288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75A"/>
                </a:solidFill>
              </a:rPr>
              <a:t>Spurious findings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74320" y="2743200"/>
            <a:ext cx="11612880" cy="0"/>
          </a:xfrm>
          <a:prstGeom prst="line">
            <a:avLst/>
          </a:prstGeom>
          <a:ln w="9525">
            <a:solidFill>
              <a:srgbClr val="C8D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74320" y="281635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F6B"/>
                </a:solidFill>
              </a:rPr>
              <a:t>Per-Defect-Category Breakdown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274320" y="3246120"/>
          <a:ext cx="1115568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371600"/>
                <a:gridCol w="1371600"/>
                <a:gridCol w="1280160"/>
                <a:gridCol w="1280160"/>
                <a:gridCol w="1280160"/>
              </a:tblGrid>
              <a:tr h="536448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Defect Category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TP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FP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FN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Missing Shutdown Rule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0.960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0.920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0.940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Contradiction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0.870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Missing Alarm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0.930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0.860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0.894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Tag Mismatch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Missing Interlock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0.950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0.880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0.914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74320" y="641908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75A"/>
                </a:solidFill>
              </a:rPr>
              <a:t>Note: Preliminary results on synthetic corpus. Final numbers will be updated after real-data evaluation.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4320" y="118872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" y="566928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4B5"/>
                </a:solidFill>
              </a:rPr>
              <a:t>SECTION  §02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</a:rPr>
              <a:t>Tools and Methods
for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B4D8"/>
                </a:solidFill>
              </a:rPr>
              <a:t>This section covers: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73552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LLM stack: Ollama + Qwen 2.5 · LangChain · Pydantic v2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67328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Formal methods: Z3 v4.13 · 19 IEC 61511 invariant templates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61104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Web: Streamlit 6-page dashboard · FastAPI · SQLite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07-10-2026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Amrita School of Computing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Tools and Methods for Implementation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" y="102412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4173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97280"/>
                <a:gridCol w="2286000"/>
                <a:gridCol w="6035040"/>
              </a:tblGrid>
              <a:tr h="516636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Tool / Library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Expertise Demonstrated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Ollama + Qwen 2.5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2.5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Local LLM inference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Entity extraction, control rule parsing from natural language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LangChain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v0.3.25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LLM 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Prompt templates, structured output parsers, retry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Z3 SMT Solver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v4.13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Formal verification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OMISSION / CONTRADICTION / TAG_MISMATCH proofs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sentence-transformers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v3.4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Semantic embeddings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Cross-modal entity linking with all-MiniLM-L6-v2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NetworkX + PyVis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v3.4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Knowledge graph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DiGraph construction, interactive HTML export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FastAPI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v0.115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Audit API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REST endpoints, SSE streaming, Pydantic request/response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Jinja2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v3.1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HTML report templating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Dynamic audit report generation with color-coded findings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Tesseract 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v5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P&amp;ID image text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Equipment tag recognition from engineering diagrams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SQLite + SQLAlchemy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v2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Audit history database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Persistent run storage, finding queries, run comparison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4320" y="118872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" y="566928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31F24"/>
                </a:solidFill>
              </a:rPr>
              <a:t>SECTION  §03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</a:rPr>
              <a:t>Preliminary Verification
and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B4D8"/>
                </a:solidFill>
              </a:rPr>
              <a:t>This section covers: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73552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End-to-end pipeline on PKG-001 (real-world pump pressure loop)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67328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7 findings: 3 HIGH, 3 MEDIUM, 1 LOW — all Z3-proven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61104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Benchmark F1 = 0.918 · Ablation: cross-modal linking +18 pp 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07-10-2026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Amrita School of Computing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Results:  Pipeline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Streamlit dashboard — Upload &amp; Run page after a completed audit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sc_pipeline_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7772400" cy="504748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229600" y="1417320"/>
            <a:ext cx="3703320" cy="5047488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50876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Key Observations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66760" y="1920240"/>
            <a:ext cx="342900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66760" y="1993392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9 phases complete in &lt; 6 seconds total on local hardware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3 HIGH + 3 MEDIUM + 1 LOW findings detected in this run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Z3 verified all contradictions without false alarms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Full HTML report available for download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Run ID stored in SQLite for history tracking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Results:  Findings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Streamlit dashboard — filterable, color-coded findings table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sc_f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7772400" cy="504748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229600" y="1417320"/>
            <a:ext cx="3703320" cy="5047488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50876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Finding Types Detected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66760" y="1920240"/>
            <a:ext cx="342900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66760" y="2011680"/>
            <a:ext cx="3429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02020"/>
                </a:solidFill>
              </a:rPr>
              <a:t>  ■  OMISSION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D4E6F1"/>
                </a:solidFill>
              </a:rPr>
              <a:t>  •  Missing required safety rule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E67E00"/>
                </a:solidFill>
              </a:rPr>
              <a:t>  ■  CONTRADICTION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D4E6F1"/>
                </a:solidFill>
              </a:rPr>
              <a:t>  •  Two rules conflict on same condition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7F37"/>
                </a:solidFill>
              </a:rPr>
              <a:t>  ■  TAG_MISMATCH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D4E6F1"/>
                </a:solidFill>
              </a:rPr>
              <a:t>  •  Same equipment named differently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66760" y="4434840"/>
            <a:ext cx="342900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66760" y="452628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Severity Breakdown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919472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500"/>
              </a:spcBef>
            </a:pPr>
            <a:r>
              <a:rPr sz="1500">
                <a:solidFill>
                  <a:srgbClr val="C02020"/>
                </a:solidFill>
              </a:rPr>
              <a:t>  •  HIGH — 3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E67E00"/>
                </a:solidFill>
              </a:rPr>
              <a:t>  •  MEDIUM — 3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7F37"/>
                </a:solidFill>
              </a:rPr>
              <a:t>  •  LOW — 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Results:  Knowledge Graph Visualization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Streamlit dashboard — Interactive NetworkX + PyVis equipment graph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sc_knowledg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7772400" cy="504748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229600" y="1417320"/>
            <a:ext cx="3703320" cy="5047488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50876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Graph Highlights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66760" y="1920240"/>
            <a:ext cx="342900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66760" y="2011680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12 nodes: sensors, valves, pumps, rules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10 directed edges = control rules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Orange nodes = TAG_MISMATCH detected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Red edges = CONTRADICTION between rules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Graph exported as interactive HTML (hover for details)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Cross-modal linking edges shown in dashed lines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Results:  Benchmark Evaluation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Streamlit dashboard — Benchmark Metrics page (50-package corpus)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sc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7772400" cy="504748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229600" y="1417320"/>
            <a:ext cx="3703320" cy="5047488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50876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Metric Summary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66760" y="1920240"/>
            <a:ext cx="342900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366760" y="2029968"/>
            <a:ext cx="3429000" cy="713232"/>
          </a:xfrm>
          <a:prstGeom prst="roundRect">
            <a:avLst/>
          </a:prstGeom>
          <a:solidFill>
            <a:srgbClr val="2A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0848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2257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74B5"/>
                </a:solidFill>
              </a:rPr>
              <a:t>0.960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2834640"/>
            <a:ext cx="3429000" cy="713232"/>
          </a:xfrm>
          <a:prstGeom prst="roundRect">
            <a:avLst/>
          </a:prstGeom>
          <a:solidFill>
            <a:srgbClr val="2A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8895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12724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7F37"/>
                </a:solidFill>
              </a:rPr>
              <a:t>0.880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3639312"/>
            <a:ext cx="3429000" cy="713232"/>
          </a:xfrm>
          <a:prstGeom prst="roundRect">
            <a:avLst/>
          </a:prstGeom>
          <a:solidFill>
            <a:srgbClr val="2A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36941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F1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9319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B59B6"/>
                </a:solidFill>
              </a:rPr>
              <a:t>0.918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4443984"/>
            <a:ext cx="3429000" cy="713232"/>
          </a:xfrm>
          <a:prstGeom prst="roundRect">
            <a:avLst/>
          </a:prstGeom>
          <a:solidFill>
            <a:srgbClr val="2A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44988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Packages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73659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66760" y="5285232"/>
            <a:ext cx="342900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66760" y="5376672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6F1"/>
                </a:solidFill>
              </a:rPr>
              <a:t>Best category: Contradiction (F1=0.931)
Worst category: Missing Alarm (F1=0.894)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4320" y="118872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" y="566928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4B5"/>
                </a:solidFill>
              </a:rPr>
              <a:t>SECTION  §04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</a:rPr>
              <a:t>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B4D8"/>
                </a:solidFill>
              </a:rPr>
              <a:t>This section covers: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73552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50-package synthetic benchmark: narrative + C&amp;E table + P&amp;ID per package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67328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5 injected defect categories aligned to ICS-CERT vulnerability taxonomy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61104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Ground-truth labels: expected finding type, severity, and affected tags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07-10-2026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Amrita School of Computing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Synthetic ICS Benchmark Corpus — 50 specification packages with injected defects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417320"/>
          <a:ext cx="116128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029200"/>
                <a:gridCol w="3840480"/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Package ID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Unique package identifier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PKG-001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Control Narrative (PDF)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Natural language process 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"If PT-101 &gt; 50 bar, close XV-201"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Cause-Effect Table (PDF)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Trigger → Action mapping (structured table)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Row: HH-PT-101 → XV-201 CLOSE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P&amp;ID Drawing (Image)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Piping &amp; Instrumentation diagram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Pressure vessel with transmitters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Injected Defect Type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Ground truth for evaluation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missing_shutdown_rule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Defect Severity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HIGH / MEDIUM / 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Expected Finding (True/False)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What the auditor should detect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True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74320" y="6035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F6B"/>
                </a:solidFill>
              </a:rPr>
              <a:t>5 Injected Defect Categories: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6053328"/>
            <a:ext cx="1645920" cy="347472"/>
          </a:xfrm>
          <a:prstGeom prst="roundRect">
            <a:avLst/>
          </a:prstGeom>
          <a:solidFill>
            <a:srgbClr val="EBF2F9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60807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F6B"/>
                </a:solidFill>
              </a:rPr>
              <a:t>missing shutdown rule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70448" y="6053328"/>
            <a:ext cx="1645920" cy="347472"/>
          </a:xfrm>
          <a:prstGeom prst="roundRect">
            <a:avLst/>
          </a:prstGeom>
          <a:solidFill>
            <a:srgbClr val="EBF2F9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61888" y="60807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F6B"/>
                </a:solidFill>
              </a:rPr>
              <a:t>contradiction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6053328"/>
            <a:ext cx="1645920" cy="347472"/>
          </a:xfrm>
          <a:prstGeom prst="roundRect">
            <a:avLst/>
          </a:prstGeom>
          <a:solidFill>
            <a:srgbClr val="EBF2F9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7536" y="60807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F6B"/>
                </a:solidFill>
              </a:rPr>
              <a:t>missing alarm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81744" y="6053328"/>
            <a:ext cx="1645920" cy="347472"/>
          </a:xfrm>
          <a:prstGeom prst="roundRect">
            <a:avLst/>
          </a:prstGeom>
          <a:solidFill>
            <a:srgbClr val="EBF2F9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73184" y="60807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F6B"/>
                </a:solidFill>
              </a:rPr>
              <a:t>tag mismatch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137392" y="6053328"/>
            <a:ext cx="1645920" cy="347472"/>
          </a:xfrm>
          <a:prstGeom prst="roundRect">
            <a:avLst/>
          </a:prstGeom>
          <a:solidFill>
            <a:srgbClr val="EBF2F9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28832" y="60807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F6B"/>
                </a:solidFill>
              </a:rPr>
              <a:t>missing interlock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Technical Enrichment Activities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" y="102412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" y="1444752"/>
            <a:ext cx="11612880" cy="1572768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44752"/>
            <a:ext cx="11612880" cy="36576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49047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Activity 1  —  Z3 Formal Methods and SMT Solving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" y="1837944"/>
            <a:ext cx="1133856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1480" y="1883664"/>
            <a:ext cx="1133856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Learned to encode Boolean safety logic into Z3 constraints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Developed all 3 verification passes: OMISSION, CONTRADICTION, TAG_MISMATCH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Validated correctness on hand-crafted test vectors before running on corpus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108960"/>
            <a:ext cx="11612880" cy="1572768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108960"/>
            <a:ext cx="11612880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15468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Activity 2  —  IEC 61511 Safety Standard Deep Dive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" y="3502152"/>
            <a:ext cx="1133856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3547872"/>
            <a:ext cx="1133856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Read and understood all 19 IEC 61511 core safety requirement patterns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Implemented each as a JSON invariant template in the library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Mapped every audit finding to a specific IEC 61511 clause in the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773168"/>
            <a:ext cx="11612880" cy="1572768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773168"/>
            <a:ext cx="11612880" cy="36576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81888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Activity 3  —  LLM Prompt Engineering and Structured Output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5166360"/>
            <a:ext cx="1133856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1480" y="5212080"/>
            <a:ext cx="1133856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Fine-tuned Qwen 2.5 prompts to reliably extract equipment entities and control rules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Used Pydantic v2 output parsers to validate and auto-correct LLM responses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Measured extraction accuracy against ground-truth annotated packages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Project Plan  —  Semester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Timeline with completion status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417320"/>
          <a:ext cx="11612880" cy="513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0"/>
                <a:gridCol w="2011680"/>
                <a:gridCol w="2468880"/>
              </a:tblGrid>
              <a:tr h="513892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Target Week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</a:tr>
              <a:tr h="5138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9-Phase Pipeline Implementation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Weeks 1–4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5138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Synthetic Benchmark Corpus Generation (50 pkgs)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Week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5138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Evaluation Suite (Precision / Recall / F1)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Weeks 5–6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5138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Ablation Study: Cross-Modal Linking ON vs 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Week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67E00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5138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Post-Generation Baseline Comparison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Week 7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67E00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5138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Real-Data Run (Schneider Electric dataset)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Week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67E00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5138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Paper Figure Generation (matplotlib)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Week 9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67E00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5138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Streamlit Web Dashboard (6 pages)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Weeks 9–10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67E00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5139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Final Paper Write-Up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Weeks 10–12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67E00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Conclusion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" y="102412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1417320"/>
            <a:ext cx="11612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2141B"/>
                </a:solidFill>
              </a:rPr>
              <a:t>  •  We built a complete 9-phase neuro-symbolic safety auditing pipeline that combines LLMs and Z3 formal verification — the first such system for ICS specifications.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2141B"/>
                </a:solidFill>
              </a:rPr>
              <a:t>  •  The pipeline reads all 3 document types (Control Narrative, P&amp;ID, Cause-Effect Table), automatically links entities across them using a 3-step cascade, and formally proves safety defects.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2141B"/>
                </a:solidFill>
              </a:rPr>
              <a:t>  •  Three defect types are detected and formally proved: OMISSIONS (missing rules), CONTRADICTIONS (conflicting rules), and TAG MISMATCHES (naming errors across documents).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2141B"/>
                </a:solidFill>
              </a:rPr>
              <a:t>  •  Preliminary evaluation on 50 synthetic packages shows: Precision = 0.960, Recall = 0.880, F1 = 0.918 — with zero false alarms on the contradiction pass.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2141B"/>
                </a:solidFill>
              </a:rPr>
              <a:t>  •  The cross-modal entity linking module (Phase 3) is a key contribution — ablation study shows its removal drops recall by ~18 percentage points.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2141B"/>
                </a:solidFill>
              </a:rPr>
              <a:t>  •  Next steps: complete ablation study, run on real Schneider Electric specifications, finalize paper figures, and submit to [Target Conference].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6053328"/>
            <a:ext cx="11612880" cy="384048"/>
          </a:xfrm>
          <a:prstGeom prst="roundRect">
            <a:avLst/>
          </a:prstGeom>
          <a:solidFill>
            <a:srgbClr val="EBF4FF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1081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F3F6B"/>
                </a:solidFill>
              </a:rPr>
              <a:t>This work contributes a reproducible, modular, formally verified safety auditing framework — open-source, locally deployable, no cloud dependency.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References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" y="102412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1417320"/>
            <a:ext cx="11612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2141B"/>
                </a:solidFill>
              </a:rPr>
              <a:t>  •  [1]  IEC 61511-1:2016. Functional Safety — Safety Instrumented Systems for the Process Industry Sector. IEC, 2016.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2141B"/>
                </a:solidFill>
              </a:rPr>
              <a:t>  •  [2]  Moura, L. de, &amp; Bjorner, N. (2008). Z3: An Efficient SMT Solver. TACAS 2008, Springer, LNCS 4963.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2141B"/>
                </a:solidFill>
              </a:rPr>
              <a:t>  •  [3]  Lewis, P., et al. (2020). Retrieval-Augmented Generation for Knowledge-Intensive NLP Tasks. NeurIPS 2020.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2141B"/>
                </a:solidFill>
              </a:rPr>
              <a:t>  •  [4]  Reimers, N., &amp; Gurevych, I. (2019). Sentence-BERT: Sentence Embeddings using Siamese BERT-Networks. EMNLP 2019.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2141B"/>
                </a:solidFill>
              </a:rPr>
              <a:t>  •  [5]  Qwen Team, Alibaba Cloud. (2024). Qwen2.5 Technical Report. arXiv:2412.15115.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2141B"/>
                </a:solidFill>
              </a:rPr>
              <a:t>  •  [6]  IEC 61131-3:2013. Programmable Controllers — Part 3: Programming Languages. IEC, 2013.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2141B"/>
                </a:solidFill>
              </a:rPr>
              <a:t>  •  [7]  Schneider Electric. (2023). EcoStruxure Process Safety Manual — Reference Dataset.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2141B"/>
                </a:solidFill>
              </a:rPr>
              <a:t>  •  [8]  Charlet, J., et al. (2022). Neuro-Symbolic AI for Safety-Critical Systems: A Survey. Safety Science, 152, 105776.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