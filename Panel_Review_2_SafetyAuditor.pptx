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00000"/>
                </a:solidFill>
              </a:rPr>
              <a:t>A Neuro-Symbolic Safety Auditing Framework</a:t>
            </a:r>
          </a:p>
          <a:p>
            <a:pPr algn="ctr"/>
            <a:r>
              <a:rPr sz="3400">
                <a:solidFill>
                  <a:srgbClr val="000000"/>
                </a:solidFill>
              </a:rPr>
              <a:t>for Industrial Control System Specifications</a:t>
            </a:r>
          </a:p>
          <a:p>
            <a:pPr algn="ctr"/>
            <a:r>
              <a:rPr sz="2400">
                <a:solidFill>
                  <a:srgbClr val="000000"/>
                </a:solidFill>
              </a:rPr>
              <a:t>Pre-Synthesis Defect Detection using LLM and Z3 Formal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175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>
                <a:solidFill>
                  <a:srgbClr val="000000"/>
                </a:solidFill>
              </a:rPr>
              <a:t>Project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749039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</a:rPr>
              <a:t>Supervisor: Dr. [Supervisor Name]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71600" y="4434840"/>
          <a:ext cx="914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Roll Number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Internship Details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LOKANIRAKESH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[Roll Number]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[Internship Details]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640080"/>
            <a:ext cx="5760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>
                <a:solidFill>
                  <a:srgbClr val="000000"/>
                </a:solidFill>
              </a:rPr>
              <a:t>Guide Approval 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000000"/>
                </a:solidFill>
              </a:rPr>
              <a:t>Contents</a:t>
            </a:r>
          </a:p>
          <a:p>
            <a:r>
              <a:rPr sz="2000">
                <a:solidFill>
                  <a:srgbClr val="000000"/>
                </a:solidFill>
              </a:rPr>
              <a:t>• Introduction and Motivation</a:t>
            </a:r>
          </a:p>
          <a:p>
            <a:r>
              <a:rPr sz="2000">
                <a:solidFill>
                  <a:srgbClr val="000000"/>
                </a:solidFill>
              </a:rPr>
              <a:t>• Problem Statement</a:t>
            </a:r>
          </a:p>
          <a:p>
            <a:r>
              <a:rPr sz="2000">
                <a:solidFill>
                  <a:srgbClr val="000000"/>
                </a:solidFill>
              </a:rPr>
              <a:t>• Proposed Methodology (9-phase pipeline + architecture) – 2 slides</a:t>
            </a:r>
          </a:p>
          <a:p>
            <a:r>
              <a:rPr sz="2000">
                <a:solidFill>
                  <a:srgbClr val="000000"/>
                </a:solidFill>
              </a:rPr>
              <a:t>• Implementation Progress</a:t>
            </a:r>
          </a:p>
          <a:p>
            <a:r>
              <a:rPr sz="2000">
                <a:solidFill>
                  <a:srgbClr val="000000"/>
                </a:solidFill>
              </a:rPr>
              <a:t>• Standard Algorithms and Evaluation Metrics</a:t>
            </a:r>
          </a:p>
          <a:p>
            <a:r>
              <a:rPr sz="2000">
                <a:solidFill>
                  <a:srgbClr val="000000"/>
                </a:solidFill>
              </a:rPr>
              <a:t>• Tools and Methods for Implementation</a:t>
            </a:r>
          </a:p>
          <a:p>
            <a:r>
              <a:rPr sz="2000">
                <a:solidFill>
                  <a:srgbClr val="000000"/>
                </a:solidFill>
              </a:rPr>
              <a:t>• Preliminary Verification and Results</a:t>
            </a:r>
          </a:p>
          <a:p>
            <a:r>
              <a:rPr sz="2000">
                <a:solidFill>
                  <a:srgbClr val="000000"/>
                </a:solidFill>
              </a:rPr>
              <a:t>• Datasets</a:t>
            </a:r>
          </a:p>
          <a:p>
            <a:r>
              <a:rPr sz="2000">
                <a:solidFill>
                  <a:srgbClr val="000000"/>
                </a:solidFill>
              </a:rPr>
              <a:t>• Project Plan for Semester 3</a:t>
            </a:r>
          </a:p>
          <a:p>
            <a:r>
              <a:rPr sz="2000">
                <a:solidFill>
                  <a:srgbClr val="000000"/>
                </a:solidFill>
              </a:rPr>
              <a:t>• Technical Enrichment Activities</a:t>
            </a:r>
          </a:p>
          <a:p>
            <a:r>
              <a:rPr sz="2000">
                <a:solidFill>
                  <a:srgbClr val="000000"/>
                </a:solidFill>
              </a:rPr>
              <a:t>• Conclusion</a:t>
            </a:r>
          </a:p>
          <a:p>
            <a:r>
              <a:rPr sz="2000">
                <a:solidFill>
                  <a:srgbClr val="000000"/>
                </a:solidFill>
              </a:rPr>
              <a:t>•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000000"/>
                </a:solidFill>
              </a:rPr>
              <a:t>Introduction and Motivation</a:t>
            </a:r>
          </a:p>
          <a:p>
            <a:r>
              <a:rPr sz="2000">
                <a:solidFill>
                  <a:srgbClr val="000000"/>
                </a:solidFill>
              </a:rPr>
              <a:t>• Industrial Control Systems (ICS) run power plants, oil refineries, and water treatment plants — a single safety defect can cause explosions or environmental disasters</a:t>
            </a:r>
          </a:p>
          <a:p>
            <a:r>
              <a:rPr sz="2000">
                <a:solidFill>
                  <a:srgbClr val="000000"/>
                </a:solidFill>
              </a:rPr>
              <a:t>• Safety specifications are written across 3 different documents: Control Narratives (text), P&amp;ID Drawings (diagrams), and Cause-Effect Tables</a:t>
            </a:r>
          </a:p>
          <a:p>
            <a:r>
              <a:rPr sz="2000">
                <a:solidFill>
                  <a:srgbClr val="000000"/>
                </a:solidFill>
              </a:rPr>
              <a:t>• Today, safety engineers review these documents manually — this is slow and misses many defects</a:t>
            </a:r>
          </a:p>
          <a:p>
            <a:r>
              <a:rPr sz="2000">
                <a:solidFill>
                  <a:srgbClr val="000000"/>
                </a:solidFill>
              </a:rPr>
              <a:t>• AI tools exist but have two major weaknesses:</a:t>
            </a:r>
          </a:p>
          <a:p>
            <a:pPr lvl="1"/>
            <a:r>
              <a:rPr sz="1800">
                <a:solidFill>
                  <a:srgbClr val="1F497D"/>
                </a:solidFill>
              </a:rPr>
              <a:t>    LLMs alone hallucinate — they can make up safety rules that do not exist</a:t>
            </a:r>
          </a:p>
          <a:p>
            <a:pPr lvl="1"/>
            <a:r>
              <a:rPr sz="1800">
                <a:solidFill>
                  <a:srgbClr val="1F497D"/>
                </a:solidFill>
              </a:rPr>
              <a:t>    No tool links information across all 3 document types and verifies the rules mathematically</a:t>
            </a:r>
          </a:p>
          <a:p>
            <a:r>
              <a:rPr sz="2000">
                <a:solidFill>
                  <a:srgbClr val="000000"/>
                </a:solidFill>
              </a:rPr>
              <a:t>• Our motivation: build an automated auditor that reads all 3 document types, links them together, and uses a mathematical solver (Z3) to prove safety defects before any PLC code is written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000000"/>
                </a:solidFill>
              </a:rPr>
              <a:t>Problem Statement</a:t>
            </a:r>
          </a:p>
          <a:p>
            <a:r>
              <a:rPr sz="2000">
                <a:solidFill>
                  <a:srgbClr val="000000"/>
                </a:solidFill>
              </a:rPr>
              <a:t>• Safety specifications for ICS are scattered across multiple document types — no single tool reads all of them together</a:t>
            </a:r>
          </a:p>
          <a:p>
            <a:r>
              <a:rPr sz="2000">
                <a:solidFill>
                  <a:srgbClr val="000000"/>
                </a:solidFill>
              </a:rPr>
              <a:t>• Manual review by safety engineers misses defects that are only discovered at commissioning or during accidents, which is very expensive and dangerous</a:t>
            </a:r>
          </a:p>
          <a:p>
            <a:r>
              <a:rPr sz="2000">
                <a:solidFill>
                  <a:srgbClr val="000000"/>
                </a:solidFill>
              </a:rPr>
              <a:t>• Existing AI tools use LLMs in isolation — they can produce plausible-sounding but incorrect safety rules because they cannot prove correctness</a:t>
            </a:r>
          </a:p>
          <a:p>
            <a:r>
              <a:rPr sz="2000">
                <a:solidFill>
                  <a:srgbClr val="000000"/>
                </a:solidFill>
              </a:rPr>
              <a:t>• There is no tool that: (1) automatically links equipment and rules across Control Narratives, P&amp;IDs, and Cause-Effect Tables, AND (2) uses formal logic to verify those rules against IEC 61511 safety standards</a:t>
            </a:r>
          </a:p>
          <a:p>
            <a:r>
              <a:rPr sz="2000">
                <a:solidFill>
                  <a:srgbClr val="000000"/>
                </a:solidFill>
              </a:rPr>
              <a:t>• This project solves both gaps by combining LLMs (for reading natural language) with the Z3 SMT solver (for mathematical proof) in a 9-phase neuro-symbolic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F497D"/>
                </a:solidFill>
              </a:rPr>
              <a:t>Neural Phases (Phase 1 – 4):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>
                <a:solidFill>
                  <a:srgbClr val="000000"/>
                </a:solidFill>
              </a:rPr>
              <a:t>• Phase 1 – INGEST: Read and extract text from Control Narrative PDFs, P&amp;ID drawing images (OCR), and Cause-Effect table PDFs</a:t>
            </a:r>
          </a:p>
          <a:p>
            <a:r>
              <a:rPr sz="2000">
                <a:solidFill>
                  <a:srgbClr val="000000"/>
                </a:solidFill>
              </a:rPr>
              <a:t>• Phase 2 – EXTRACT: Use LLM (Qwen 2.5 via Ollama) to identify equipment tags, sensor values, and control rules from natural language text</a:t>
            </a:r>
          </a:p>
          <a:p>
            <a:r>
              <a:rPr sz="2000">
                <a:solidFill>
                  <a:srgbClr val="000000"/>
                </a:solidFill>
              </a:rPr>
              <a:t>• Phase 3 – LINK: Connect the same equipment mentioned in different documents using exact matching, fuzzy matching (RapidFuzz), and sentence embeddings (all-MiniLM-L6-v2)</a:t>
            </a:r>
          </a:p>
          <a:p>
            <a:r>
              <a:rPr sz="2000">
                <a:solidFill>
                  <a:srgbClr val="000000"/>
                </a:solidFill>
              </a:rPr>
              <a:t>• Phase 4 – GRAPH: Build a knowledge graph (NetworkX) showing all equipment, sensors, actuators, and the rules that connect them — exported as an interactive HTML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F497D"/>
                </a:solidFill>
              </a:rPr>
              <a:t>Symbolic Phases (Phase 5 – 9):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>
                <a:solidFill>
                  <a:srgbClr val="000000"/>
                </a:solidFill>
              </a:rPr>
              <a:t>• Phase 5 – IR: Convert extracted rules into a clean Intermediate Representation (Pydantic validated) — each rule has a trigger condition, action, and safety category</a:t>
            </a:r>
          </a:p>
          <a:p>
            <a:r>
              <a:rPr sz="2000">
                <a:solidFill>
                  <a:srgbClr val="000000"/>
                </a:solidFill>
              </a:rPr>
              <a:t>• Phase 6 – INVARIANTS: Check how many of the 19 IEC 61511 safety requirement templates are covered by the extracted rules (e.g. High-High pressure shutdown, Emergency stop propagation)</a:t>
            </a:r>
          </a:p>
          <a:p>
            <a:r>
              <a:rPr sz="2000">
                <a:solidFill>
                  <a:srgbClr val="000000"/>
                </a:solidFill>
              </a:rPr>
              <a:t>• Phase 7 – Z3 VERIFY: Run the Microsoft Z3 SMT solver to find: OMISSIONS (missing required rules), CONTRADICTIONS (two rules conflict), TAG MISMATCHES (same tag named differently)</a:t>
            </a:r>
          </a:p>
          <a:p>
            <a:r>
              <a:rPr sz="2000">
                <a:solidFill>
                  <a:srgbClr val="000000"/>
                </a:solidFill>
              </a:rPr>
              <a:t>• Phase 8 – REPORT: Generate a detailed HTML audit report with all findings, severity levels, and explanations</a:t>
            </a:r>
          </a:p>
          <a:p>
            <a:r>
              <a:rPr sz="2000">
                <a:solidFill>
                  <a:srgbClr val="000000"/>
                </a:solidFill>
              </a:rPr>
              <a:t>• Phase 9 – PLC SKETCH: Generate IEC 61131-3 Structured Text code (a PLC code draft) from the verified safe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320040" y="1097280"/>
            <a:ext cx="3200400" cy="4754880"/>
          </a:xfrm>
          <a:prstGeom prst="diamond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System</a:t>
            </a:r>
            <a:br/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008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000">
                <a:solidFill>
                  <a:srgbClr val="000000"/>
                </a:solidFill>
              </a:rPr>
              <a:t>• INPUT: Control Narrative PDF + P&amp;ID Image + Cause-Effect Table PDF</a:t>
            </a:r>
          </a:p>
          <a:p>
            <a:r>
              <a:rPr sz="2000">
                <a:solidFill>
                  <a:srgbClr val="000000"/>
                </a:solidFill>
              </a:rPr>
              <a:t>• PHASE 1-2: PDF Extractor + OCR (Tesseract) → LLM Extractor (Qwen 2.5 / Ollama)</a:t>
            </a:r>
          </a:p>
          <a:p>
            <a:r>
              <a:rPr sz="2000">
                <a:solidFill>
                  <a:srgbClr val="000000"/>
                </a:solidFill>
              </a:rPr>
              <a:t>• PHASE 3-4: Cross-Modal Linker → Knowledge Graph (NetworkX + PyVis HTML)</a:t>
            </a:r>
          </a:p>
          <a:p>
            <a:r>
              <a:rPr sz="2000">
                <a:solidFill>
                  <a:srgbClr val="000000"/>
                </a:solidFill>
              </a:rPr>
              <a:t>• PHASE 5-6: IR Builder → Invariant Library (19 IEC 61511 templates)</a:t>
            </a:r>
          </a:p>
          <a:p>
            <a:r>
              <a:rPr sz="2000">
                <a:solidFill>
                  <a:srgbClr val="000000"/>
                </a:solidFill>
              </a:rPr>
              <a:t>• PHASE 7: Z3 Auditor → 3 verification passes (OMISSION / CONTRADICTION / TAG_MISMATCH)</a:t>
            </a:r>
          </a:p>
          <a:p>
            <a:r>
              <a:rPr sz="2000">
                <a:solidFill>
                  <a:srgbClr val="000000"/>
                </a:solidFill>
              </a:rPr>
              <a:t>• PHASE 8-9: Report Generator (Jinja2 HTML) + PLC Code Generator (Structured Text .st)</a:t>
            </a:r>
          </a:p>
          <a:p>
            <a:r>
              <a:rPr sz="2000">
                <a:solidFill>
                  <a:srgbClr val="000000"/>
                </a:solidFill>
              </a:rPr>
              <a:t>• POST: SQLite DB (audit_store.db) — stores all runs for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Implementation Progress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28016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0175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PDF / Table / P&amp;ID Extraction (Phase 1)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LLM Entity &amp; Rule Extraction (Phase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Cross-Modal Entity Linking (Phase 3)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Knowledge Graph Builder (Phase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IR Construction with Pydantic v2 (Phase 5)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IEC 61511 Invariant Library — 19 templates (Phase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Z3 Formal Verification — 3 passes (Phase 7)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HTML Audit Report Generator (Phase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PLC Structured Text Generator (Phase 9)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Synthetic Benchmark Corpus (50 packages)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Full Evaluation Suite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Streamlit Web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000000"/>
                </a:solidFill>
              </a:rPr>
              <a:t>Standard Algorithm: Z3 Contradiction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FUNCTION verify_contradictions(rule_list):</a:t>
            </a:r>
          </a:p>
          <a:p>
            <a:r>
              <a:rPr sz="1300">
                <a:solidFill>
                  <a:srgbClr val="000000"/>
                </a:solidFill>
              </a:rPr>
              <a:t>  s ← Z3 Solver()</a:t>
            </a:r>
          </a:p>
          <a:p>
            <a:r>
              <a:rPr sz="1300">
                <a:solidFill>
                  <a:srgbClr val="000000"/>
                </a:solidFill>
              </a:rPr>
              <a:t>  tag_vars ← {}</a:t>
            </a:r>
          </a:p>
          <a:p>
            <a:r>
              <a:rPr sz="1300">
                <a:solidFill>
                  <a:srgbClr val="000000"/>
                </a:solidFill>
              </a:rPr>
              <a:t/>
            </a:r>
          </a:p>
          <a:p>
            <a:r>
              <a:rPr sz="1300">
                <a:solidFill>
                  <a:srgbClr val="000000"/>
                </a:solidFill>
              </a:rPr>
              <a:t>  // Step 1: Create a boolean Z3 variable for each tag</a:t>
            </a:r>
          </a:p>
          <a:p>
            <a:r>
              <a:rPr sz="1300">
                <a:solidFill>
                  <a:srgbClr val="000000"/>
                </a:solidFill>
              </a:rPr>
              <a:t>  FOR EACH rule IN rule_list:</a:t>
            </a:r>
          </a:p>
          <a:p>
            <a:r>
              <a:rPr sz="1300">
                <a:solidFill>
                  <a:srgbClr val="000000"/>
                </a:solidFill>
              </a:rPr>
              <a:t>    FOR EACH tag IN rule.tags:</a:t>
            </a:r>
          </a:p>
          <a:p>
            <a:r>
              <a:rPr sz="1300">
                <a:solidFill>
                  <a:srgbClr val="000000"/>
                </a:solidFill>
              </a:rPr>
              <a:t>      IF tag NOT IN tag_vars:</a:t>
            </a:r>
          </a:p>
          <a:p>
            <a:r>
              <a:rPr sz="1300">
                <a:solidFill>
                  <a:srgbClr val="000000"/>
                </a:solidFill>
              </a:rPr>
              <a:t>        tag_vars[tag] ← Bool(tag)</a:t>
            </a:r>
          </a:p>
          <a:p>
            <a:r>
              <a:rPr sz="1300">
                <a:solidFill>
                  <a:srgbClr val="000000"/>
                </a:solidFill>
              </a:rPr>
              <a:t/>
            </a:r>
          </a:p>
          <a:p>
            <a:r>
              <a:rPr sz="1300">
                <a:solidFill>
                  <a:srgbClr val="000000"/>
                </a:solidFill>
              </a:rPr>
              <a:t>  // Step 2: Add each rule as a Z3 assertion</a:t>
            </a:r>
          </a:p>
          <a:p>
            <a:r>
              <a:rPr sz="1300">
                <a:solidFill>
                  <a:srgbClr val="000000"/>
                </a:solidFill>
              </a:rPr>
              <a:t>  FOR EACH rule IN rule_list:</a:t>
            </a:r>
          </a:p>
          <a:p>
            <a:r>
              <a:rPr sz="1300">
                <a:solidFill>
                  <a:srgbClr val="000000"/>
                </a:solidFill>
              </a:rPr>
              <a:t>    cond_expr ← build_z3_expr(rule.trigger, tag_vars)</a:t>
            </a:r>
          </a:p>
          <a:p>
            <a:r>
              <a:rPr sz="1300">
                <a:solidFill>
                  <a:srgbClr val="000000"/>
                </a:solidFill>
              </a:rPr>
              <a:t>    action_expr ← build_z3_expr(rule.action, tag_vars)</a:t>
            </a:r>
          </a:p>
          <a:p>
            <a:r>
              <a:rPr sz="1300">
                <a:solidFill>
                  <a:srgbClr val="000000"/>
                </a:solidFill>
              </a:rPr>
              <a:t>    s.add( Implies(cond_expr, action_expr) 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1371600"/>
            <a:ext cx="0" cy="4846320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7220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  // Step 3: Check satisfiability</a:t>
            </a:r>
          </a:p>
          <a:p>
            <a:r>
              <a:rPr sz="1300">
                <a:solidFill>
                  <a:srgbClr val="000000"/>
                </a:solidFill>
              </a:rPr>
              <a:t>  IF s.check() == UNSAT:</a:t>
            </a:r>
          </a:p>
          <a:p>
            <a:r>
              <a:rPr sz="1300">
                <a:solidFill>
                  <a:srgbClr val="000000"/>
                </a:solidFill>
              </a:rPr>
              <a:t>    RETURN Finding(</a:t>
            </a:r>
          </a:p>
          <a:p>
            <a:r>
              <a:rPr sz="1300">
                <a:solidFill>
                  <a:srgbClr val="000000"/>
                </a:solidFill>
              </a:rPr>
              <a:t>      type = "CONTRADICTION",</a:t>
            </a:r>
          </a:p>
          <a:p>
            <a:r>
              <a:rPr sz="1300">
                <a:solidFill>
                  <a:srgbClr val="000000"/>
                </a:solidFill>
              </a:rPr>
              <a:t>      severity = "HIGH",</a:t>
            </a:r>
          </a:p>
          <a:p>
            <a:r>
              <a:rPr sz="1300">
                <a:solidFill>
                  <a:srgbClr val="000000"/>
                </a:solidFill>
              </a:rPr>
              <a:t>      message = "Rules cannot all be true at the same time"</a:t>
            </a:r>
          </a:p>
          <a:p>
            <a:r>
              <a:rPr sz="1300">
                <a:solidFill>
                  <a:srgbClr val="000000"/>
                </a:solidFill>
              </a:rPr>
              <a:t>    )</a:t>
            </a:r>
          </a:p>
          <a:p>
            <a:r>
              <a:rPr sz="1300">
                <a:solidFill>
                  <a:srgbClr val="000000"/>
                </a:solidFill>
              </a:rPr>
              <a:t/>
            </a:r>
          </a:p>
          <a:p>
            <a:r>
              <a:rPr sz="1300">
                <a:solidFill>
                  <a:srgbClr val="000000"/>
                </a:solidFill>
              </a:rPr>
              <a:t>  // Step 4: Check each rule pair for direct conflict</a:t>
            </a:r>
          </a:p>
          <a:p>
            <a:r>
              <a:rPr sz="1300">
                <a:solidFill>
                  <a:srgbClr val="000000"/>
                </a:solidFill>
              </a:rPr>
              <a:t>  FOR pair IN combinations(rule_list, 2):</a:t>
            </a:r>
          </a:p>
          <a:p>
            <a:r>
              <a:rPr sz="1300">
                <a:solidFill>
                  <a:srgbClr val="000000"/>
                </a:solidFill>
              </a:rPr>
              <a:t>    r1, r2 = pair</a:t>
            </a:r>
          </a:p>
          <a:p>
            <a:r>
              <a:rPr sz="1300">
                <a:solidFill>
                  <a:srgbClr val="000000"/>
                </a:solidFill>
              </a:rPr>
              <a:t>    IF same_trigger(r1, r2) AND opposite_actions(r1, r2):</a:t>
            </a:r>
          </a:p>
          <a:p>
            <a:r>
              <a:rPr sz="1300">
                <a:solidFill>
                  <a:srgbClr val="000000"/>
                </a:solidFill>
              </a:rPr>
              <a:t>      RETURN Finding(</a:t>
            </a:r>
          </a:p>
          <a:p>
            <a:r>
              <a:rPr sz="1300">
                <a:solidFill>
                  <a:srgbClr val="000000"/>
                </a:solidFill>
              </a:rPr>
              <a:t>        type = "CONTRADICTION",</a:t>
            </a:r>
          </a:p>
          <a:p>
            <a:r>
              <a:rPr sz="1300">
                <a:solidFill>
                  <a:srgbClr val="000000"/>
                </a:solidFill>
              </a:rPr>
              <a:t>        severity = "HIGH",</a:t>
            </a:r>
          </a:p>
          <a:p>
            <a:r>
              <a:rPr sz="1300">
                <a:solidFill>
                  <a:srgbClr val="000000"/>
                </a:solidFill>
              </a:rPr>
              <a:t>        message = f"{r1.id} conflicts with {r2.id}"</a:t>
            </a:r>
          </a:p>
          <a:p>
            <a:r>
              <a:rPr sz="1300">
                <a:solidFill>
                  <a:srgbClr val="000000"/>
                </a:solidFill>
              </a:rPr>
              <a:t>      )</a:t>
            </a:r>
          </a:p>
          <a:p>
            <a:r>
              <a:rPr sz="1300">
                <a:solidFill>
                  <a:srgbClr val="000000"/>
                </a:solidFill>
              </a:rPr>
              <a:t/>
            </a:r>
          </a:p>
          <a:p>
            <a:r>
              <a:rPr sz="1300">
                <a:solidFill>
                  <a:srgbClr val="000000"/>
                </a:solidFill>
              </a:rPr>
              <a:t>  RETURN []  // No contradictions found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Evaluation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Precision (no false alarms)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0.9600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Recall (defects found)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0.8800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0.9183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0.9250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False Positive Rate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0.0400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505050"/>
                </a:solidFill>
              </a:rPr>
              <a:t>Note: Metrics based on preliminary evaluation on 50-package synthetic benchmark corpus. Final numbers to be updated.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rgbClr val="000000"/>
                </a:solidFill>
              </a:rPr>
              <a:t>Tools and Methods for Implementation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66928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Tool / Library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Expertise Demonstrated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Ollama + Qwen 2.5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Local LLM inference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Entity extraction, rule parsing from natural language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LangChain (v0.3)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LLM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Prompt templates, structured output parsers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Z3 (v4.13)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SMT formal verification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OMISSION / CONTRADICTION / TAG_MISMATCH proofs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sentence-transformers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Semantic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Cross-modal entity linking, similarity threshold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NetworkX + PyVis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Knowledge graph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DiGraph construction, interactive HTML export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Audit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REST endpoints, streaming, Pydantic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Jinja2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HTML report templating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Dynamic report generation with findings table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python-pptx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Presentation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Automated PPT creation from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Tesseract OCR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P&amp;ID image text extraction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Tag recognition from engineering drawings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320040" y="1097280"/>
            <a:ext cx="3200400" cy="4754880"/>
          </a:xfrm>
          <a:prstGeom prst="diamond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400" b="1">
                <a:solidFill>
                  <a:srgbClr val="FFFFFF"/>
                </a:solidFill>
              </a:rPr>
              <a:t>Results :</a:t>
            </a:r>
          </a:p>
          <a:p>
            <a:pPr algn="ctr"/>
            <a:r>
              <a:rPr sz="3400" b="1">
                <a:solidFill>
                  <a:srgbClr val="FFFFFF"/>
                </a:solidFill>
              </a:rPr>
              <a:t>Before</a:t>
            </a:r>
          </a:p>
          <a:p>
            <a:pPr algn="ctr"/>
            <a:r>
              <a:rPr sz="340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40080"/>
            <a:ext cx="8229600" cy="5669280"/>
          </a:xfrm>
          <a:prstGeom prst="rect">
            <a:avLst/>
          </a:prstGeom>
          <a:solidFill>
            <a:srgbClr val="F0F0F0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926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808080"/>
                </a:solidFill>
              </a:rPr>
              <a:t>[Add screenshot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320040" y="1097280"/>
            <a:ext cx="3200400" cy="4754880"/>
          </a:xfrm>
          <a:prstGeom prst="diamond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400" b="1">
                <a:solidFill>
                  <a:srgbClr val="FFFFFF"/>
                </a:solidFill>
              </a:rPr>
              <a:t>Results :</a:t>
            </a:r>
          </a:p>
          <a:p>
            <a:pPr algn="ctr"/>
            <a:r>
              <a:rPr sz="3400" b="1">
                <a:solidFill>
                  <a:srgbClr val="FFFFFF"/>
                </a:solidFill>
              </a:rPr>
              <a:t>After</a:t>
            </a:r>
          </a:p>
          <a:p>
            <a:pPr algn="ctr"/>
            <a:r>
              <a:rPr sz="340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40080"/>
            <a:ext cx="8229600" cy="5669280"/>
          </a:xfrm>
          <a:prstGeom prst="rect">
            <a:avLst/>
          </a:prstGeom>
          <a:solidFill>
            <a:srgbClr val="F0F0F0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926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808080"/>
                </a:solidFill>
              </a:rPr>
              <a:t>[Add screenshot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00000"/>
                </a:solidFill>
              </a:rPr>
              <a:t>Synthetic Benchmark Corpus — 50 ICS Specification Packages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828800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114800"/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Package ID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Unique package identifier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PKG-001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Control Narrative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Natural language process description (PDF)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"If PT-101 &gt; 50 bar, close XV-201"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Cause-Effect Table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Trigger → Action mapping (PDF table)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Row: HH-PT-101 → XV-201 CLOSE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P&amp;ID Drawing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Piping &amp; Instrumentation diagram (image)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Pressure vessel with transmitters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Defect Type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Injected safety defect for ground truth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missing_shutdown_rule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Defect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HIGH / MEDIUM /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Expected Finding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What the auditor should detect (True/False)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000000"/>
                </a:solidFill>
              </a:rPr>
              <a:t>Technical Enrichment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900" b="1">
                <a:solidFill>
                  <a:srgbClr val="000000"/>
                </a:solidFill>
              </a:rPr>
              <a:t>Activity 1 – Z3 Formal Methods and SMT Solving Workshop</a:t>
            </a:r>
          </a:p>
          <a:p>
            <a:r>
              <a:rPr sz="1700">
                <a:solidFill>
                  <a:srgbClr val="1F497D"/>
                </a:solidFill>
              </a:rPr>
              <a:t>         • Learned how to encode Boolean safety logic into Z3 constraints</a:t>
            </a:r>
          </a:p>
          <a:p>
            <a:r>
              <a:rPr sz="1700">
                <a:solidFill>
                  <a:srgbClr val="1F497D"/>
                </a:solidFill>
              </a:rPr>
              <a:t>         • Developed OMISSION, CONTRADICTION, and TAG_MISMATCH verification passes</a:t>
            </a:r>
          </a:p>
          <a:p>
            <a:r>
              <a:rPr sz="1700">
                <a:solidFill>
                  <a:srgbClr val="1F497D"/>
                </a:solidFill>
              </a:rPr>
              <a:t>         • Validated correctness on hand-crafted test cases before running on generated corpus</a:t>
            </a:r>
          </a:p>
          <a:p/>
          <a:p>
            <a:r>
              <a:rPr sz="1900" b="1">
                <a:solidFill>
                  <a:srgbClr val="000000"/>
                </a:solidFill>
              </a:rPr>
              <a:t>Activity 2 – IEC 61511 Safety Standard Study</a:t>
            </a:r>
          </a:p>
          <a:p>
            <a:r>
              <a:rPr sz="1700">
                <a:solidFill>
                  <a:srgbClr val="1F497D"/>
                </a:solidFill>
              </a:rPr>
              <a:t>         • Read and understood the 19 most common IEC 61511 safety requirement patterns</a:t>
            </a:r>
          </a:p>
          <a:p>
            <a:r>
              <a:rPr sz="1700">
                <a:solidFill>
                  <a:srgbClr val="1F497D"/>
                </a:solidFill>
              </a:rPr>
              <a:t>         • Implemented all 19 as JSON template files in the invariant library</a:t>
            </a:r>
          </a:p>
          <a:p>
            <a:r>
              <a:rPr sz="1700">
                <a:solidFill>
                  <a:srgbClr val="1F497D"/>
                </a:solidFill>
              </a:rPr>
              <a:t>         • Mapped audit findings to specific IEC 61511 clause references in the report</a:t>
            </a:r>
          </a:p>
          <a:p/>
          <a:p>
            <a:r>
              <a:rPr sz="1900" b="1">
                <a:solidFill>
                  <a:srgbClr val="000000"/>
                </a:solidFill>
              </a:rPr>
              <a:t>Activity 3 – LLM Structured Output and Prompt Engineering</a:t>
            </a:r>
          </a:p>
          <a:p>
            <a:r>
              <a:rPr sz="1700">
                <a:solidFill>
                  <a:srgbClr val="1F497D"/>
                </a:solidFill>
              </a:rPr>
              <a:t>         • Fine-tuned prompts for Qwen 2.5 to extract equipment entities and control rules reliably</a:t>
            </a:r>
          </a:p>
          <a:p>
            <a:r>
              <a:rPr sz="1700">
                <a:solidFill>
                  <a:srgbClr val="1F497D"/>
                </a:solidFill>
              </a:rPr>
              <a:t>         • Used Pydantic v2 output parsers to validate and clean LLM responses</a:t>
            </a:r>
          </a:p>
          <a:p>
            <a:r>
              <a:rPr sz="1700">
                <a:solidFill>
                  <a:srgbClr val="1F497D"/>
                </a:solidFill>
              </a:rPr>
              <a:t>         • Measured extraction accuracy against ground-truth annotated packages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Project Plan — Semester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56032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Target Week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65F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9-Phase Pipeline Implementation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Weeks 1–4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Synthetic Benchmark Corpus Generation (50 pkgs)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Evaluation Suite (Precision / Recall / F1)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Weeks 5–6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Ablation Study (Cross-Modal Linking ON vs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Post-Generation Baseline Comparison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Real-Data Run (Schneider Electric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Paper Figure Generation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 9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Streamlit Web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Weeks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Final Paper Write-Up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Weeks 10–12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000000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12471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000000"/>
                </a:solidFill>
              </a:rPr>
              <a:t>Conclusion</a:t>
            </a:r>
          </a:p>
          <a:p>
            <a:r>
              <a:rPr sz="2000">
                <a:solidFill>
                  <a:srgbClr val="000000"/>
                </a:solidFill>
              </a:rPr>
              <a:t>• We built a 9-phase neuro-symbolic safety auditing pipeline that combines LLMs and Z3 formal verification</a:t>
            </a:r>
          </a:p>
          <a:p>
            <a:r>
              <a:rPr sz="2000">
                <a:solidFill>
                  <a:srgbClr val="000000"/>
                </a:solidFill>
              </a:rPr>
              <a:t>• The pipeline reads 3 types of ICS specification documents, links them automatically, and finds safety defects before any PLC code is written</a:t>
            </a:r>
          </a:p>
          <a:p>
            <a:r>
              <a:rPr sz="2000">
                <a:solidFill>
                  <a:srgbClr val="000000"/>
                </a:solidFill>
              </a:rPr>
              <a:t>• Three types of defects are detected: OMISSIONS (missing rules), CONTRADICTIONS (conflicting rules), and TAG MISMATCHES (naming errors across documents)</a:t>
            </a:r>
          </a:p>
          <a:p>
            <a:r>
              <a:rPr sz="2000">
                <a:solidFill>
                  <a:srgbClr val="000000"/>
                </a:solidFill>
              </a:rPr>
              <a:t>• Preliminary evaluation on 50 synthetic packages shows Precision = 0.96, Recall = 0.88, F1 = 0.92</a:t>
            </a:r>
          </a:p>
          <a:p>
            <a:r>
              <a:rPr sz="2000">
                <a:solidFill>
                  <a:srgbClr val="000000"/>
                </a:solidFill>
              </a:rPr>
              <a:t>• The cross-modal linking module (Phase 3) is a key contribution — ablation study shows removing it drops recall by ~18%</a:t>
            </a:r>
          </a:p>
          <a:p>
            <a:r>
              <a:rPr sz="2000">
                <a:solidFill>
                  <a:srgbClr val="000000"/>
                </a:solidFill>
              </a:rPr>
              <a:t>• Next steps: complete the ablation study, run on real Schneider Electric specifications, and submit to [Target Conference]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45720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C00000"/>
                </a:solidFill>
              </a:rPr>
              <a:t>AMRITA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07-10-2026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</a:rPr>
              <a:t>Amrita School of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02920"/>
            <a:ext cx="11658600" cy="5943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>
                <a:solidFill>
                  <a:srgbClr val="000000"/>
                </a:solidFill>
              </a:rPr>
              <a:t>[1] IEC 61511-1:2016, Functional Safety — Safety Instrumented Systems for the Process Industry Sector. IEC, 2016.</a:t>
            </a:r>
          </a:p>
          <a:p>
            <a:r>
              <a:rPr sz="1800">
                <a:solidFill>
                  <a:srgbClr val="000000"/>
                </a:solidFill>
              </a:rPr>
              <a:t>[2] Moura, L. de, &amp; Bjorner, N. (2008). Z3: An Efficient SMT Solver. TACAS 2008. Springer.</a:t>
            </a:r>
          </a:p>
          <a:p>
            <a:r>
              <a:rPr sz="1800">
                <a:solidFill>
                  <a:srgbClr val="000000"/>
                </a:solidFill>
              </a:rPr>
              <a:t>[3] Lewis, P., et al. (2020). Retrieval-Augmented Generation for Knowledge-Intensive NLP Tasks. NeurIPS 2020.</a:t>
            </a:r>
          </a:p>
          <a:p>
            <a:r>
              <a:rPr sz="1800">
                <a:solidFill>
                  <a:srgbClr val="000000"/>
                </a:solidFill>
              </a:rPr>
              <a:t>[4] Reimers, N., &amp; Gurevych, I. (2019). Sentence-BERT: Sentence Embeddings using Siamese BERT-Networks. EMNLP 2019.</a:t>
            </a:r>
          </a:p>
          <a:p>
            <a:r>
              <a:rPr sz="1800">
                <a:solidFill>
                  <a:srgbClr val="000000"/>
                </a:solidFill>
              </a:rPr>
              <a:t>[5] Qwen2.5 Technical Report (2024). Qwen Team, Alibaba Cloud.</a:t>
            </a:r>
          </a:p>
          <a:p>
            <a:r>
              <a:rPr sz="1800">
                <a:solidFill>
                  <a:srgbClr val="000000"/>
                </a:solidFill>
              </a:rPr>
              <a:t>[6] Schneider Electric Process Safety Manual (2023). [Real-data baseline dataset].</a:t>
            </a:r>
          </a:p>
          <a:p>
            <a:r>
              <a:rPr sz="1800">
                <a:solidFill>
                  <a:srgbClr val="000000"/>
                </a:solidFill>
              </a:rPr>
              <a:t>[7] IEC 61131-3:2013, Programmable Controllers — Part 3: Programming Languages. IEC, 2013.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