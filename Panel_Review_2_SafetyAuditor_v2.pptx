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7FA"/>
                </a:solidFill>
              </a:rPr>
              <a:t>Amrita Vishwa Vidyapeetham  ·  Amrita School of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8"/>
                </a:solidFill>
              </a:rPr>
              <a:t>M.Tech Computer Science and Engineering (Research)  ·  Panel Review 2  ·  07-10-2026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45920"/>
            <a:ext cx="73152" cy="4919472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83080"/>
            <a:ext cx="11612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F3F6B"/>
                </a:solidFill>
              </a:rPr>
              <a:t>A Neuro-Symbolic Safety Auditing Framework
for Industrial Control System Specifications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" y="3337560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34290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2E74B5"/>
                </a:solidFill>
              </a:rPr>
              <a:t>Pre-Synthesis Defect Detection  ·  LLM Entity Extraction  ·  Z3 Formal Verification  ·  IEC 61511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069080"/>
            <a:ext cx="5303520" cy="65836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F6B"/>
                </a:solidFill>
              </a:rPr>
              <a:t>Supervisor:  Dr. [Supervisor Name]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069080"/>
            <a:ext cx="5029200" cy="658368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41788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Project Phase 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4320" y="4919472"/>
          <a:ext cx="11612880" cy="749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74904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Roll Number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Internship Details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F3F6B"/>
                          </a:solidFill>
                        </a:rPr>
                        <a:t>LOKANIRAKESH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F3F6B"/>
                          </a:solidFill>
                        </a:rPr>
                        <a:t>[Roll Number]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F3F6B"/>
                          </a:solidFill>
                        </a:rPr>
                        <a:t>[Internship Details]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83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  ·  Amrita School of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Guide Approval Mail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71600" y="1417320"/>
            <a:ext cx="9418320" cy="49834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4475A"/>
                </a:solidFill>
              </a:rPr>
              <a:t>[Add approval email screenshot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Contents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1417320"/>
            <a:ext cx="54864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1732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F6B"/>
                </a:solidFill>
              </a:rPr>
              <a:t>Introduction and Motivation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84248"/>
            <a:ext cx="54864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84248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F6B"/>
                </a:solidFill>
              </a:rPr>
              <a:t>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51176"/>
            <a:ext cx="54864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51176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F6B"/>
                </a:solidFill>
              </a:rPr>
              <a:t>Proposed Methodology  —  9-Phase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18104"/>
            <a:ext cx="54864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118104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F6B"/>
                </a:solidFill>
              </a:rPr>
              <a:t>System Architecture &amp; Implementation Progress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85032"/>
            <a:ext cx="54864" cy="347472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85032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31F24"/>
                </a:solidFill>
              </a:rPr>
              <a:t>§01  Standard Algorithms and Evaluation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51960"/>
            <a:ext cx="54864" cy="347472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25196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31F24"/>
                </a:solidFill>
              </a:rPr>
              <a:t>§02  Tools and Methods for Implementation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417320"/>
            <a:ext cx="54864" cy="347472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31F24"/>
                </a:solidFill>
              </a:rPr>
              <a:t>§03  Preliminary Verification and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984248"/>
            <a:ext cx="54864" cy="347472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984248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31F24"/>
                </a:solidFill>
              </a:rPr>
              <a:t>§04  Datasets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551176"/>
            <a:ext cx="54864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551176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F6B"/>
                </a:solidFill>
              </a:rPr>
              <a:t>Technical Enrichment Activities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118104"/>
            <a:ext cx="54864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118104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F6B"/>
                </a:solidFill>
              </a:rPr>
              <a:t>Project Plan for Semester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685032"/>
            <a:ext cx="54864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85032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F3F6B"/>
                </a:solidFill>
              </a:rPr>
              <a:t>Conclusion and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Introduction and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Why do we need automated safety auditing for ICS?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3749039" cy="105156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813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103 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People affected by ICS
failures annually (ICS-CERT)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1417320"/>
            <a:ext cx="3749039" cy="105156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14813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Defects missed by manual
review (found at commissioning)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7888" y="1417320"/>
            <a:ext cx="3749039" cy="105156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4813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IEC 61511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Safety standard for SIS —
19 core requirement patterns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" y="2578608"/>
            <a:ext cx="11612880" cy="0"/>
          </a:xfrm>
          <a:prstGeom prst="line">
            <a:avLst/>
          </a:prstGeom>
          <a:ln w="9525">
            <a:solidFill>
              <a:srgbClr val="C8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4320" y="2679192"/>
            <a:ext cx="11612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300"/>
              </a:spcBef>
            </a:pPr>
            <a:r>
              <a:rPr sz="1900">
                <a:solidFill>
                  <a:srgbClr val="12141B"/>
                </a:solidFill>
              </a:rPr>
              <a:t>  •  ICS safety specifications are spread across 3 document types: Control Narratives (text), P&amp;ID Drawings (diagrams), and Cause-Effect Tables (tables).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2141B"/>
                </a:solidFill>
              </a:rPr>
              <a:t>  •  Today, safety engineers manually cross-check all 3 — this is slow, costly, and error-prone.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2141B"/>
                </a:solidFill>
              </a:rPr>
              <a:t>  •  Current AI tools use LLMs alone — they hallucinate and cannot mathematically prove correctness.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12141B"/>
                </a:solidFill>
              </a:rPr>
              <a:t>  •  No existing tool automatically links entities across all 3 document types and runs formal verification.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760720"/>
            <a:ext cx="11612880" cy="658368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8338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F3F6B"/>
                </a:solidFill>
              </a:rPr>
              <a:t>Our Goal:  Build an automated auditor that reads all 3 document types, links them with cross-modal entity linking, and uses the Z3 SMT solver to formally prove safety defects before any PLC code is written.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Problem Statement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1417320"/>
            <a:ext cx="11612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2141B"/>
                </a:solidFill>
              </a:rPr>
              <a:t>  •  Safety specifications for ICS are scattered across multiple document types — no single tool reads all of them together and cross-validates them.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2141B"/>
                </a:solidFill>
              </a:rPr>
              <a:t>  •  Manual safety review by engineers misses up to 30% of defects.  These are only found at commissioning or during an accident — extremely expensive and dangerous.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2141B"/>
                </a:solidFill>
              </a:rPr>
              <a:t>  •  Existing AI tools use LLMs in isolation — they can produce plausible-sounding but incorrect safety rules because they cannot prove correctness mathematically.</a:t>
            </a:r>
          </a:p>
          <a:p>
            <a:pPr>
              <a:spcBef>
                <a:spcPts val="800"/>
              </a:spcBef>
            </a:pPr>
            <a:r>
              <a:rPr sz="1900">
                <a:solidFill>
                  <a:srgbClr val="1F3F6B"/>
                </a:solidFill>
              </a:rPr>
              <a:t>  •  There is no tool that:  (1) automatically links equipment names and rules across Control Narratives, P&amp;IDs, and Cause-Effect Tables,  AND  (2) uses formal logic to verify those rules against IEC 61511 safety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742432"/>
            <a:ext cx="11612880" cy="713232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A3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15584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31F24"/>
                </a:solidFill>
              </a:rPr>
              <a:t>This project solves both gaps with a 9-phase neuro-symbolic pipeline: LLMs read and extract rules from natural language, and the Z3 SMT solver mathematically proves OMISSIONS, CONTRADICTIONS, and TAG MISMATCHES before a single line of PLC code is written.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Proposed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9-Phase Neuro-Symbolic Pipeline  ·  Neural Phases  (Phase 1 – 4)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508760"/>
            <a:ext cx="5806440" cy="228600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508760"/>
            <a:ext cx="5806440" cy="36576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55448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Phase 1  —  INGEST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1901952"/>
            <a:ext cx="553212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1947672"/>
            <a:ext cx="55321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Extract text from Control Narrative PDFs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OCR equipment tags from P&amp;ID drawing images (Tesseract)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Parse Cause-Effect table rows into structured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931920"/>
            <a:ext cx="5806440" cy="228600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580644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7764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Phase 2  —  EXTRACT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" y="4325112"/>
            <a:ext cx="553212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1480" y="4370832"/>
            <a:ext cx="55321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Send extracted text to Qwen 2.5 LLM (via Ollama, locally)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LLM returns: equipment entities, sensor tags, and control rules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Pydantic v2 validates and cleans every LLM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508760"/>
            <a:ext cx="5806440" cy="228600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508760"/>
            <a:ext cx="5806440" cy="36576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5448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Phase 3  —  LINK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1901952"/>
            <a:ext cx="553212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1947672"/>
            <a:ext cx="55321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Connect the SAME equipment mentioned across all 3 documents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3-step cascade: exact match → fuzzy match (RapidFuzz ≥ 85) → embedding similarity (all-MiniLM-L6-v2 ≥ 0.75)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Ablation flag: cross-modal linking can be switched 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31920"/>
            <a:ext cx="5806440" cy="228600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80644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4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Phase 4  —  GRAPH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0" y="4325112"/>
            <a:ext cx="553212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0" y="4370832"/>
            <a:ext cx="55321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Build a NetworkX DiGraph of all equipment, sensors, actuators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Edges = control rules (condition → action)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Export as interactive PyVis HTML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Proposed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9-Phase Neuro-Symbolic Pipeline  ·  Symbolic Phases  (Phase 5 – 9)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508760"/>
            <a:ext cx="3913632" cy="2267712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508760"/>
            <a:ext cx="3913632" cy="36576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554480"/>
            <a:ext cx="3639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Phase 5  —  IR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" y="1901952"/>
            <a:ext cx="3639312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1947672"/>
            <a:ext cx="36393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Convert LLM-extracted rules into Pydantic-validated ControlRule IR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Each rule has: trigger condition, action, safety category, IEC clause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1508760"/>
            <a:ext cx="3913632" cy="2267712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7408" y="1508760"/>
            <a:ext cx="3913632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554480"/>
            <a:ext cx="3639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Phase 6  —  INVARIANTS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44568" y="1901952"/>
            <a:ext cx="3639312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44568" y="1947672"/>
            <a:ext cx="36393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Check which of the 19 IEC 61511 safety requirement templates are covered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Examples: High-High Pressure Shutdown, Emergency Stop Propagation, Interlock Mutual Exclusion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0496" y="1508760"/>
            <a:ext cx="3520440" cy="2267712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0496" y="1508760"/>
            <a:ext cx="3520440" cy="36576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77656" y="155448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Phase 7  —  Z3 VERIFY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77656" y="1901952"/>
            <a:ext cx="324612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77656" y="1947672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OMISSION pass: missing required rules (e.g. no HH shutdown for PT-101)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CONTRADICTION pass: two rules conflict under the same condition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TAG_MISMATCH pass: same equipment named differently across documents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83664" y="3950208"/>
            <a:ext cx="3913632" cy="2267712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83664" y="3950208"/>
            <a:ext cx="3913632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3995928"/>
            <a:ext cx="3639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Phase 8  —  REPORT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20824" y="4343400"/>
            <a:ext cx="3639312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020824" y="4389120"/>
            <a:ext cx="36393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Generate HTML audit report with all findings, severity ratings, and IEC references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Each finding includes: type, description, affected tags, clause, recommendation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950208"/>
            <a:ext cx="3913632" cy="2267712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3950208"/>
            <a:ext cx="3913632" cy="36576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995928"/>
            <a:ext cx="3639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Phase 9  —  PLC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629400" y="4343400"/>
            <a:ext cx="3639312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29400" y="4389120"/>
            <a:ext cx="36393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Generate IEC 61131-3 Structured Text (.st) code from verified safe rules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Code is a draft skeleton — must be reviewed by a qualified safety engineer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End-to-end flow: 3 document types → 9 phases → Findings + PLC code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3840480" cy="5074920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31F24"/>
                </a:solidFill>
              </a:rPr>
              <a:t>INPUT DOCUMENTS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993392"/>
            <a:ext cx="347472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2103120"/>
            <a:ext cx="3474720" cy="685800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📄  Control Narrative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50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</a:rPr>
              <a:t>Natural language process description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474720" cy="685800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71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Cause-Effect Table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735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</a:rPr>
              <a:t>Trigger → action mapping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49040"/>
            <a:ext cx="3474720" cy="685800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🖼  P&amp;ID Drawing (Image)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096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8"/>
                </a:solidFill>
              </a:rPr>
              <a:t>Piping &amp; Instrumentation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▼  9-Phase Pipeline  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389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31F24"/>
                </a:solidFill>
              </a:rPr>
              <a:t>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📋  HTML Audit Report (findings)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795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⚙  IEC 61131-3 PLC Structured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141732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F6B"/>
                </a:solidFill>
              </a:rPr>
              <a:t>PROCESSING PIPELINE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34840" y="1828800"/>
            <a:ext cx="7452360" cy="0"/>
          </a:xfrm>
          <a:prstGeom prst="line">
            <a:avLst/>
          </a:prstGeom>
          <a:ln w="9525">
            <a:solidFill>
              <a:srgbClr val="C8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434840" y="1920240"/>
            <a:ext cx="658368" cy="713232"/>
          </a:xfrm>
          <a:prstGeom prst="round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2075688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1+2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84648" y="1920240"/>
            <a:ext cx="6766560" cy="71323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195681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Ingest + LLM Extract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22677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75A"/>
                </a:solidFill>
              </a:rPr>
              <a:t>PDF/OCR extraction → Qwen 2.5 entity &amp; rule extraction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64024" y="2633472"/>
            <a:ext cx="0" cy="192024"/>
          </a:xfrm>
          <a:prstGeom prst="line">
            <a:avLst/>
          </a:prstGeom>
          <a:ln w="19050">
            <a:solidFill>
              <a:srgbClr val="A3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434840" y="2825496"/>
            <a:ext cx="658368" cy="713232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298094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3+4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84648" y="2825496"/>
            <a:ext cx="6766560" cy="71323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286207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Link + 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31729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75A"/>
                </a:solidFill>
              </a:rPr>
              <a:t>Exact/Fuzzy/Embedding cross-modal linking → NetworkX DiGraph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64024" y="3538728"/>
            <a:ext cx="0" cy="192024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434840" y="3730752"/>
            <a:ext cx="658368" cy="713232"/>
          </a:xfrm>
          <a:prstGeom prst="round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388620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5+6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84648" y="3730752"/>
            <a:ext cx="6766560" cy="71323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376732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IR + Invariants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40782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75A"/>
                </a:solidFill>
              </a:rPr>
              <a:t>Pydantic ControlRule IR → 19 IEC 61511 template coverage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764024" y="4443984"/>
            <a:ext cx="0" cy="192024"/>
          </a:xfrm>
          <a:prstGeom prst="line">
            <a:avLst/>
          </a:prstGeom>
          <a:ln w="19050">
            <a:solidFill>
              <a:srgbClr val="A3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434840" y="4636008"/>
            <a:ext cx="658368" cy="713232"/>
          </a:xfrm>
          <a:prstGeom prst="round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4791456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84648" y="4636008"/>
            <a:ext cx="6766560" cy="71323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9240" y="467258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Z3 Verify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49240" y="4983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75A"/>
                </a:solidFill>
              </a:rPr>
              <a:t>OMISSION / CONTRADICTION / TAG_MISMATCH formal proofs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764024" y="5349240"/>
            <a:ext cx="0" cy="192024"/>
          </a:xfrm>
          <a:prstGeom prst="line">
            <a:avLst/>
          </a:prstGeom>
          <a:ln w="19050">
            <a:solidFill>
              <a:srgbClr val="A3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434840" y="5541264"/>
            <a:ext cx="658368" cy="713232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569671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8+9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84648" y="5541264"/>
            <a:ext cx="6766560" cy="713232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8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557784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Report + PLC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58887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75A"/>
                </a:solidFill>
              </a:rPr>
              <a:t>Jinja2 HTML report + IEC 61131-3 Structured Text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Implementation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Current status of all 12 modules across the 9-phase pipeline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4173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2103120"/>
                <a:gridCol w="2560320"/>
              </a:tblGrid>
              <a:tr h="407963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PDF / Table / P&amp;ID Extraction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LLM Entity &amp; Rule Extraction (Qwen 2.5)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Cross-Modal Entity Linking (3-step cascade)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Knowledge Graph (NetworkX + PyVis HTML)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IR Construction (Pydantic v2 validated)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5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IEC 61511 Invariant Library (19 templates)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Z3 Formal Verification (3 passes)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7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HTML Audit Report (Jinja2)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PLC Structured Text Generator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Phase 9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Synthetic Benchmark Corpus (50 packages)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Full Evaluation Suite (P / R / F1 / ablation)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Eval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Streamlit Web Dashboard (6 pages)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1F24"/>
                </a:solidFill>
              </a:rPr>
              <a:t>SECTION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Standard Algorithms &amp;
Evaluation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Z3 SMT Contradiction Checker — formal proof of rule conflicts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Cross-Modal Entity Linking — 3-step cascade (Exact → Fuzzy → Embedding)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Evaluation on 50-package synthetic benchmark  ·  Precision / Recall / 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Standard Algorithm:  Z3 Contradiction Checker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Formal verification of safety rules using Microsoft Z3 SMT solver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17320"/>
            <a:ext cx="562356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508760"/>
            <a:ext cx="5349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r>
              <a:rPr sz="1300" b="1">
                <a:solidFill>
                  <a:srgbClr val="79B8FF"/>
                </a:solidFill>
              </a:rPr>
              <a:t>FUNCTION verify_contradictions(rule_list):</a:t>
            </a:r>
          </a:p>
          <a:p>
            <a:r>
              <a:rPr sz="1300">
                <a:solidFill>
                  <a:srgbClr val="E0E0FF"/>
                </a:solidFill>
              </a:rPr>
              <a:t>  solver ← Z3_Solver()</a:t>
            </a:r>
          </a:p>
          <a:p>
            <a:r>
              <a:rPr sz="1300">
                <a:solidFill>
                  <a:srgbClr val="E0E0FF"/>
                </a:solidFill>
              </a:rPr>
              <a:t>  tag_vars ← {}</a:t>
            </a:r>
          </a:p>
          <a:p>
            <a:r>
              <a:rPr sz="1300">
                <a:solidFill>
                  <a:srgbClr val="E0E0FF"/>
                </a:solidFill>
              </a:rPr>
              <a:t/>
            </a:r>
          </a:p>
          <a:p>
            <a:r>
              <a:rPr sz="1300" i="1">
                <a:solidFill>
                  <a:srgbClr val="6A9955"/>
                </a:solidFill>
              </a:rPr>
              <a:t>  // Step 1: Create one Boolean Z3 variable per tag</a:t>
            </a:r>
          </a:p>
          <a:p>
            <a:r>
              <a:rPr sz="1300" b="1">
                <a:solidFill>
                  <a:srgbClr val="79B8FF"/>
                </a:solidFill>
              </a:rPr>
              <a:t>  FOR EACH rule IN rule_list:</a:t>
            </a:r>
          </a:p>
          <a:p>
            <a:r>
              <a:rPr sz="1300" b="1">
                <a:solidFill>
                  <a:srgbClr val="79B8FF"/>
                </a:solidFill>
              </a:rPr>
              <a:t>    FOR EACH tag IN rule.tags:</a:t>
            </a:r>
          </a:p>
          <a:p>
            <a:r>
              <a:rPr sz="1300" b="1">
                <a:solidFill>
                  <a:srgbClr val="79B8FF"/>
                </a:solidFill>
              </a:rPr>
              <a:t>      IF tag NOT IN tag_vars:</a:t>
            </a:r>
          </a:p>
          <a:p>
            <a:r>
              <a:rPr sz="1300">
                <a:solidFill>
                  <a:srgbClr val="E0E0FF"/>
                </a:solidFill>
              </a:rPr>
              <a:t>        tag_vars[tag] ← Bool(tag)</a:t>
            </a:r>
          </a:p>
          <a:p>
            <a:r>
              <a:rPr sz="1300">
                <a:solidFill>
                  <a:srgbClr val="E0E0FF"/>
                </a:solidFill>
              </a:rPr>
              <a:t/>
            </a:r>
          </a:p>
          <a:p>
            <a:r>
              <a:rPr sz="1300" i="1">
                <a:solidFill>
                  <a:srgbClr val="6A9955"/>
                </a:solidFill>
              </a:rPr>
              <a:t>  // Step 2: Add each rule as a Z3 assertion</a:t>
            </a:r>
          </a:p>
          <a:p>
            <a:r>
              <a:rPr sz="1300" b="1">
                <a:solidFill>
                  <a:srgbClr val="79B8FF"/>
                </a:solidFill>
              </a:rPr>
              <a:t>  FOR EACH rule IN rule_list:</a:t>
            </a:r>
          </a:p>
          <a:p>
            <a:r>
              <a:rPr sz="1300">
                <a:solidFill>
                  <a:srgbClr val="E0E0FF"/>
                </a:solidFill>
              </a:rPr>
              <a:t>    cond   ← build_z3_expr(rule.trigger, tag_vars)</a:t>
            </a:r>
          </a:p>
          <a:p>
            <a:r>
              <a:rPr sz="1300">
                <a:solidFill>
                  <a:srgbClr val="E0E0FF"/>
                </a:solidFill>
              </a:rPr>
              <a:t>    action ← build_z3_expr(rule.action,  tag_vars)</a:t>
            </a:r>
          </a:p>
          <a:p>
            <a:r>
              <a:rPr sz="1300">
                <a:solidFill>
                  <a:srgbClr val="E0E0FF"/>
                </a:solidFill>
              </a:rPr>
              <a:t>    solver.add( Implies(cond, action) )</a:t>
            </a:r>
          </a:p>
          <a:p>
            <a:r>
              <a:rPr sz="1300">
                <a:solidFill>
                  <a:srgbClr val="E0E0FF"/>
                </a:solidFill>
              </a:rPr>
              <a:t/>
            </a:r>
          </a:p>
          <a:p>
            <a:r>
              <a:rPr sz="1300" i="1">
                <a:solidFill>
                  <a:srgbClr val="6A9955"/>
                </a:solidFill>
              </a:rPr>
              <a:t>  // Step 3: Check satisfiability</a:t>
            </a:r>
          </a:p>
          <a:p>
            <a:r>
              <a:rPr sz="1300" b="1">
                <a:solidFill>
                  <a:srgbClr val="79B8FF"/>
                </a:solidFill>
              </a:rPr>
              <a:t>  IF solver.check() == UNSAT:</a:t>
            </a:r>
          </a:p>
          <a:p>
            <a:r>
              <a:rPr sz="1300" b="1">
                <a:solidFill>
                  <a:srgbClr val="79B8FF"/>
                </a:solidFill>
              </a:rPr>
              <a:t>    RETURN Finding(CONTRADICTION, HIGH)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417320"/>
            <a:ext cx="5852160" cy="5074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508760"/>
            <a:ext cx="55778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r>
              <a:rPr sz="1300" i="1">
                <a:solidFill>
                  <a:srgbClr val="6A9955"/>
                </a:solidFill>
              </a:rPr>
              <a:t>  // Step 4: Pairwise conflict check</a:t>
            </a:r>
          </a:p>
          <a:p>
            <a:r>
              <a:rPr sz="1300" b="1">
                <a:solidFill>
                  <a:srgbClr val="79B8FF"/>
                </a:solidFill>
              </a:rPr>
              <a:t>  FOR pair IN combinations(rule_list, 2):</a:t>
            </a:r>
          </a:p>
          <a:p>
            <a:r>
              <a:rPr sz="1300">
                <a:solidFill>
                  <a:srgbClr val="E0E0FF"/>
                </a:solidFill>
              </a:rPr>
              <a:t>    r1, r2 = pair</a:t>
            </a:r>
          </a:p>
          <a:p>
            <a:r>
              <a:rPr sz="1300" b="1">
                <a:solidFill>
                  <a:srgbClr val="79B8FF"/>
                </a:solidFill>
              </a:rPr>
              <a:t>    IF same_trigger(r1, r2) AND</a:t>
            </a:r>
          </a:p>
          <a:p>
            <a:r>
              <a:rPr sz="1300">
                <a:solidFill>
                  <a:srgbClr val="E0E0FF"/>
                </a:solidFill>
              </a:rPr>
              <a:t>       opposite_actions(r1, r2):</a:t>
            </a:r>
          </a:p>
          <a:p>
            <a:r>
              <a:rPr sz="1300" b="1">
                <a:solidFill>
                  <a:srgbClr val="79B8FF"/>
                </a:solidFill>
              </a:rPr>
              <a:t>      RETURN Finding(</a:t>
            </a:r>
          </a:p>
          <a:p>
            <a:r>
              <a:rPr sz="1300">
                <a:solidFill>
                  <a:srgbClr val="E0E0FF"/>
                </a:solidFill>
              </a:rPr>
              <a:t>        type     = CONTRADICTION,</a:t>
            </a:r>
          </a:p>
          <a:p>
            <a:r>
              <a:rPr sz="1300">
                <a:solidFill>
                  <a:srgbClr val="E0E0FF"/>
                </a:solidFill>
              </a:rPr>
              <a:t>        severity = HIGH,</a:t>
            </a:r>
          </a:p>
          <a:p>
            <a:r>
              <a:rPr sz="1300">
                <a:solidFill>
                  <a:srgbClr val="E0E0FF"/>
                </a:solidFill>
              </a:rPr>
              <a:t>        tags     = r1.tags ∪ r2.tags,</a:t>
            </a:r>
          </a:p>
          <a:p>
            <a:r>
              <a:rPr sz="1300">
                <a:solidFill>
                  <a:srgbClr val="E0E0FF"/>
                </a:solidFill>
              </a:rPr>
              <a:t>        message  = f'{r1.id} conflicts {r2.id}'</a:t>
            </a:r>
          </a:p>
          <a:p>
            <a:r>
              <a:rPr sz="1300">
                <a:solidFill>
                  <a:srgbClr val="E0E0FF"/>
                </a:solidFill>
              </a:rPr>
              <a:t>      )</a:t>
            </a:r>
          </a:p>
          <a:p>
            <a:r>
              <a:rPr sz="1300">
                <a:solidFill>
                  <a:srgbClr val="E0E0FF"/>
                </a:solidFill>
              </a:rPr>
              <a:t/>
            </a:r>
          </a:p>
          <a:p>
            <a:r>
              <a:rPr sz="1300" b="1">
                <a:solidFill>
                  <a:srgbClr val="79B8FF"/>
                </a:solidFill>
              </a:rPr>
              <a:t>  RETURN []  // No contradictions found</a:t>
            </a:r>
          </a:p>
          <a:p>
            <a:r>
              <a:rPr sz="1300">
                <a:solidFill>
                  <a:srgbClr val="E0E0FF"/>
                </a:solidFill>
              </a:rPr>
              <a:t/>
            </a:r>
          </a:p>
          <a:p>
            <a:r>
              <a:rPr sz="1300" i="1">
                <a:solidFill>
                  <a:srgbClr val="6A9955"/>
                </a:solidFill>
              </a:rPr>
              <a:t>// Same structure used for OMISSION pass</a:t>
            </a:r>
          </a:p>
          <a:p>
            <a:r>
              <a:rPr sz="1300" i="1">
                <a:solidFill>
                  <a:srgbClr val="6A9955"/>
                </a:solidFill>
              </a:rPr>
              <a:t>// (check invariant coverage gaps)</a:t>
            </a:r>
          </a:p>
          <a:p>
            <a:r>
              <a:rPr sz="1300" i="1">
                <a:solidFill>
                  <a:srgbClr val="6A9955"/>
                </a:solidFill>
              </a:rPr>
              <a:t>// and TAG_MISMATCH pass</a:t>
            </a:r>
          </a:p>
          <a:p>
            <a:r>
              <a:rPr sz="1300" i="1">
                <a:solidFill>
                  <a:srgbClr val="6A9955"/>
                </a:solidFill>
              </a:rPr>
              <a:t>// (fuzzy + embedding cross-doc comparison)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1463040"/>
            <a:ext cx="0" cy="4937760"/>
          </a:xfrm>
          <a:prstGeom prst="line">
            <a:avLst/>
          </a:prstGeom>
          <a:ln w="127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Standard Algorithm:  Cross-Modal Entity Linking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3-step cascade linking entities across Control Narrative, C&amp;E Table, and P&amp;ID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1168" y="1417320"/>
            <a:ext cx="384048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417320"/>
            <a:ext cx="3840480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5270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 1 — Exact Match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" y="2057400"/>
            <a:ext cx="35661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65760" y="2276856"/>
            <a:ext cx="54864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2148840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Input: entity tag from Document A (e.g.  PT-101)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81528"/>
            <a:ext cx="54864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2953512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Query: tag_b == tag_a  (case-insensitive)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54864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3758184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If match found  →  link confirmed (confidence = 1.0)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90872"/>
            <a:ext cx="54864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4562856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Cost: O(1) hash lookup  |  Speed: &lt; 1 ms per pair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95544"/>
            <a:ext cx="54864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5367528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Example: PT-101 (narrative) == PT-101 (C&amp;E)  LINKED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96512" y="3941064.0"/>
            <a:ext cx="201168" cy="0.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33088" y="3758184"/>
            <a:ext cx="146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75A"/>
                </a:solidFill>
              </a:rPr>
              <a:t>if
not
linked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1417320"/>
            <a:ext cx="384048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1417320"/>
            <a:ext cx="3840480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15270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 2 — Fuzzy String Match  (RapidFuzz)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343400" y="2057400"/>
            <a:ext cx="35661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70832" y="2276856"/>
            <a:ext cx="54864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2148840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Input: unlinked tags from Step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3081528"/>
            <a:ext cx="54864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2953512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Score = RapidFuzz.token_sort_ratio(tag_a, tag_b)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0832" y="3886200"/>
            <a:ext cx="54864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3758184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Threshold: score &gt;= 85  →  TAG_MISMATCH finding raised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4690872"/>
            <a:ext cx="54864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4562856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Handles punctuation variants: PT-101 vs PT101  (score 0.92)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70832" y="5495544"/>
            <a:ext cx="54864" cy="548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8848" y="5367528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Example: FT-601 vs FT601  Score=0.960  MISMATCH reported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01584" y="3941064.0"/>
            <a:ext cx="201168" cy="0.0"/>
          </a:xfrm>
          <a:prstGeom prst="line">
            <a:avLst/>
          </a:prstGeom>
          <a:ln w="254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138160" y="3758184"/>
            <a:ext cx="146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75A"/>
                </a:solidFill>
              </a:rPr>
              <a:t>if
not
linked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1312" y="1417320"/>
            <a:ext cx="384048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11312" y="1417320"/>
            <a:ext cx="3840480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48472" y="152704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Step 3 — Semantic Embedding Similarity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348472" y="2057400"/>
            <a:ext cx="35661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375904" y="2276856"/>
            <a:ext cx="54864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2148840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Input: tags not linked by Steps 1-2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75904" y="3081528"/>
            <a:ext cx="54864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2953512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Model: all-MiniLM-L6-v2  (sentence-transformers)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75904" y="3886200"/>
            <a:ext cx="54864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3758184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cos_sim = dot(embed_a, embed_b) / (|a| |b|)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75904" y="4690872"/>
            <a:ext cx="54864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4562856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Threshold: cos_sim &gt;= 0.75  →  semantic link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75904" y="5495544"/>
            <a:ext cx="54864" cy="54864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0" y="5367528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6F1"/>
                </a:solidFill>
              </a:rPr>
              <a:t>Example: LT201 vs Level Transmitter 201  sim=0.81  LINKED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41908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75A"/>
                </a:solidFill>
              </a:rPr>
              <a:t>All 3 steps run per entity-pair across all document pairs. Finding raised only on Step 2 (TAG_MISMATCH). Steps 1 and 3 are transparent links.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Evaluation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Tested on 50-package synthetic benchmark corpus  ·  5 defect categories  ·  Seed 42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463040"/>
            <a:ext cx="22402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536192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75A"/>
                </a:solidFill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828800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74B5"/>
                </a:solidFill>
              </a:rPr>
              <a:t>0.960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304288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75A"/>
                </a:solidFill>
              </a:rPr>
              <a:t>No false alarms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9464" y="1463040"/>
            <a:ext cx="22402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1536192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75A"/>
                </a:solidFill>
              </a:rP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1828800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7F37"/>
                </a:solidFill>
              </a:rPr>
              <a:t>0.880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2304288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75A"/>
                </a:solidFill>
              </a:rPr>
              <a:t>Defects detected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4608" y="1463040"/>
            <a:ext cx="22402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1536192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75A"/>
                </a:solidFill>
              </a:rP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6" y="1828800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030A0"/>
                </a:solidFill>
              </a:rPr>
              <a:t>0.918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2304288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75A"/>
                </a:solidFill>
              </a:rPr>
              <a:t>Harmonic mean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9752" y="1463040"/>
            <a:ext cx="22402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F3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536192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75A"/>
                </a:solidFill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828800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3F6B"/>
                </a:solidFill>
              </a:rPr>
              <a:t>0.925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304288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75A"/>
                </a:solidFill>
              </a:rPr>
              <a:t>Overall correct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54896" y="1463040"/>
            <a:ext cx="2240280" cy="10972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4" y="1536192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75A"/>
                </a:solidFill>
              </a:rPr>
              <a:t>False Positive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1828800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02020"/>
                </a:solidFill>
              </a:rPr>
              <a:t>0.040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2304288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75A"/>
                </a:solidFill>
              </a:rPr>
              <a:t>Spurious findings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4320" y="2743200"/>
            <a:ext cx="11612880" cy="0"/>
          </a:xfrm>
          <a:prstGeom prst="line">
            <a:avLst/>
          </a:prstGeom>
          <a:ln w="9525">
            <a:solidFill>
              <a:srgbClr val="C8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4320" y="2816352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F6B"/>
                </a:solidFill>
              </a:rPr>
              <a:t>Per-Defect-Category Breakdown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274320" y="3246120"/>
          <a:ext cx="1115568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  <a:gridCol w="1371600"/>
                <a:gridCol w="1280160"/>
                <a:gridCol w="1280160"/>
                <a:gridCol w="1280160"/>
              </a:tblGrid>
              <a:tr h="536448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Defect Category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TP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FP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FN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Missing Shutdown Rule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0.960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0.920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0.940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Contradiction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Missing Alarm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0.930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0.860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0.894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Tag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Missing Interlock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0.950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0.880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0.914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74320" y="6419088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75A"/>
                </a:solidFill>
              </a:rPr>
              <a:t>Note: Preliminary results on synthetic corpus. Final numbers will be updated after real-data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SECTION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Tools and Methods
for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LLM stack: Ollama + Qwen 2.5 · LangChain orchestration · Pydantic v2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Formal methods: Microsoft Z3 v4.13 SMT solver · IEC 61511 invariant templates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Web + API: Streamlit 6-page dashboard · FastAPI REST server · SQLite persistence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Tools and Methods for Implementation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4173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2286000"/>
                <a:gridCol w="6035040"/>
              </a:tblGrid>
              <a:tr h="516636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Tool / Library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Expertise Demonstrated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Ollama + Qwen 2.5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2.5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Local LLM inference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Entity extraction, control rule parsing from natural language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LangChain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v0.3.25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LLM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Prompt templates, structured output parsers, retry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Z3 SMT Solver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v4.13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Formal verification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OMISSION / CONTRADICTION / TAG_MISMATCH proofs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sentence-transformers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Semantic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Cross-modal entity linking with all-MiniLM-L6-v2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NetworkX + PyVis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v3.4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Knowledge graph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DiGraph construction, interactive HTML export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v0.115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Audit API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REST endpoints, SSE streaming, Pydantic request/response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Jinja2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v3.1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HTML report templating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Dynamic audit report generation with color-coded findings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Tesseract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P&amp;ID image text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Equipment tag recognition from engineering diagrams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SQLite + SQLAlchemy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Audit history database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Persistent run storage, finding queries, run comparison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31F24"/>
                </a:solidFill>
              </a:rPr>
              <a:t>SECTION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Preliminary Verification
and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End-to-end pipeline execution on PKG-001 (real-world pump pressure loop)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7 findings detected: 3 HIGH, 3 MEDIUM, 1 LOW — all Z3-proven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Benchmark F1 = 0.918  ·  Ablation: cross-modal linking adds +18 pp 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Results:  Pipeline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Streamlit dashboard — Upload &amp; Run page after a completed audit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_pipelin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772400" cy="5047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417320"/>
            <a:ext cx="370332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Observations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1920240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66760" y="1993392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9 phases complete in &lt; 6 seconds total on local hardware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3 HIGH + 3 MEDIUM + 1 LOW findings detected in this run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Z3 verified all contradictions without false alarms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Full HTML report available for download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Run ID stored in SQLite for history tracking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Results:  Findings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Streamlit dashboard — filterable, color-coded findings table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772400" cy="5047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417320"/>
            <a:ext cx="370332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Finding Types Detected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1920240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66760" y="2011680"/>
            <a:ext cx="3429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C02020"/>
                </a:solidFill>
              </a:rPr>
              <a:t>  ■  OMISSION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D4E6F1"/>
                </a:solidFill>
              </a:rPr>
              <a:t>  •  Missing required safety rule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E67E00"/>
                </a:solidFill>
              </a:rPr>
              <a:t>  ■  CONTRADICTION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D4E6F1"/>
                </a:solidFill>
              </a:rPr>
              <a:t>  •  Two rules conflict on same condition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7F37"/>
                </a:solidFill>
              </a:rPr>
              <a:t>  ■  TAG_MISMATCH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D4E6F1"/>
                </a:solidFill>
              </a:rPr>
              <a:t>  •  Same equipment named differently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6760" y="4434840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366760" y="45262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Severity Breakdown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919472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500"/>
              </a:spcBef>
            </a:pPr>
            <a:r>
              <a:rPr sz="1500">
                <a:solidFill>
                  <a:srgbClr val="C02020"/>
                </a:solidFill>
              </a:rPr>
              <a:t>  •  HIGH — 3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E67E00"/>
                </a:solidFill>
              </a:rPr>
              <a:t>  •  MEDIUM — 3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A7F37"/>
                </a:solidFill>
              </a:rPr>
              <a:t>  •  LOW —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Results:  Knowledge Graph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Streamlit dashboard — Interactive NetworkX + PyVis equipment graph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_knowledg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772400" cy="5047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417320"/>
            <a:ext cx="370332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Graph Highlights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1920240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66760" y="201168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12 nodes: sensors, valves, pumps, rules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10 directed edges = control rules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Orange nodes = TAG_MISMATCH detected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Red edges = CONTRADICTION between rules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Graph exported as interactive HTML (hover for details)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D4E6F1"/>
                </a:solidFill>
              </a:rPr>
              <a:t>  •  Cross-modal linking edges shown in dashed lines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Results:  Benchmark Evaluation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Streamlit dashboard — Benchmark Metrics page (50-package corpus)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sc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7772400" cy="504748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417320"/>
            <a:ext cx="3703320" cy="504748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0876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Metric Summary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6760" y="1920240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66760" y="2029968"/>
            <a:ext cx="3429000" cy="713232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0848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225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74B5"/>
                </a:solidFill>
              </a:rPr>
              <a:t>0.960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2834640"/>
            <a:ext cx="3429000" cy="713232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8895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272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7F37"/>
                </a:solidFill>
              </a:rPr>
              <a:t>0.880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639312"/>
            <a:ext cx="3429000" cy="713232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6941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F1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931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B59B6"/>
                </a:solidFill>
              </a:rPr>
              <a:t>0.918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4443984"/>
            <a:ext cx="3429000" cy="713232"/>
          </a:xfrm>
          <a:prstGeom prst="roundRect">
            <a:avLst/>
          </a:prstGeom>
          <a:solidFill>
            <a:srgbClr val="2A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4988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8"/>
                </a:solidFill>
              </a:rPr>
              <a:t>Packages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7365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66760" y="5285232"/>
            <a:ext cx="342900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66760" y="5376672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6F1"/>
                </a:solidFill>
              </a:rPr>
              <a:t>Best category: Contradiction (F1=0.931)
Worst category: Missing Alarm (F1=0.894)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4320" y="118872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5669280"/>
            <a:ext cx="1161288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SECTION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B4D8"/>
                </a:solidFill>
              </a:rPr>
              <a:t>This section covers: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73552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3697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50-package synthetic benchmark: control narrative + C&amp;E table + P&amp;ID per package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67328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5 injected defect categories aligned to ICS-CERT vulnerability taxonomy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54864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4E6F1"/>
                </a:solidFill>
              </a:rPr>
              <a:t>Ground-truth labels: expected finding type, severity, and affected tags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AA"/>
                </a:solidFill>
              </a:rPr>
              <a:t>07-10-2026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Amrita School of Computing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Synthetic ICS Benchmark Corpus — 50 specification packages with injected defects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417320"/>
          <a:ext cx="116128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  <a:gridCol w="384048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Package ID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Unique package identifier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PKG-001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Control Narrative (PDF)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Natural language process 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"If PT-101 &gt; 50 bar, close XV-201"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Cause-Effect Table (PDF)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Trigger → Action mapping (structured table)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Row: HH-PT-101 → XV-201 CLOSE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P&amp;ID Drawing (Image)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Piping &amp; Instrumentation diagram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Pressure vessel with transmitters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Injected Defect Type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Ground truth for evaluation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missing_shutdown_rule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Defect 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HIGH / MEDIUM / 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Expected Finding (True/False)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What the auditor should detect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74320" y="6035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F6B"/>
                </a:solidFill>
              </a:rPr>
              <a:t>5 Injected Defect Categories: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6053328"/>
            <a:ext cx="1645920" cy="347472"/>
          </a:xfrm>
          <a:prstGeom prst="roundRect">
            <a:avLst/>
          </a:prstGeom>
          <a:solidFill>
            <a:srgbClr val="EBF2F9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60807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F6B"/>
                </a:solidFill>
              </a:rPr>
              <a:t>missing shutdown rule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0448" y="6053328"/>
            <a:ext cx="1645920" cy="347472"/>
          </a:xfrm>
          <a:prstGeom prst="roundRect">
            <a:avLst/>
          </a:prstGeom>
          <a:solidFill>
            <a:srgbClr val="EBF2F9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8" y="60807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F6B"/>
                </a:solidFill>
              </a:rPr>
              <a:t>contradiction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6053328"/>
            <a:ext cx="1645920" cy="347472"/>
          </a:xfrm>
          <a:prstGeom prst="roundRect">
            <a:avLst/>
          </a:prstGeom>
          <a:solidFill>
            <a:srgbClr val="EBF2F9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60807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F6B"/>
                </a:solidFill>
              </a:rPr>
              <a:t>missing alarm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81744" y="6053328"/>
            <a:ext cx="1645920" cy="347472"/>
          </a:xfrm>
          <a:prstGeom prst="roundRect">
            <a:avLst/>
          </a:prstGeom>
          <a:solidFill>
            <a:srgbClr val="EBF2F9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60807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F6B"/>
                </a:solidFill>
              </a:rPr>
              <a:t>tag mismatch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37392" y="6053328"/>
            <a:ext cx="1645920" cy="347472"/>
          </a:xfrm>
          <a:prstGeom prst="roundRect">
            <a:avLst/>
          </a:prstGeom>
          <a:solidFill>
            <a:srgbClr val="EBF2F9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28832" y="60807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F6B"/>
                </a:solidFill>
              </a:rPr>
              <a:t>missing interlock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Technical Enrichment Activities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1444752"/>
            <a:ext cx="11612880" cy="157276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44752"/>
            <a:ext cx="11612880" cy="36576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49047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Activity 1  —  Z3 Formal Methods and SMT Solving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" y="1837944"/>
            <a:ext cx="113385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" y="1883664"/>
            <a:ext cx="113385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Learned to encode Boolean safety logic into Z3 constraints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Developed all 3 verification passes: OMISSION, CONTRADICTION, TAG_MISMATCH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Validated correctness on hand-crafted test vectors before running on corpus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108960"/>
            <a:ext cx="11612880" cy="157276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08960"/>
            <a:ext cx="1161288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15468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Activity 2  —  IEC 61511 Safety Standard Deep Dive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3502152"/>
            <a:ext cx="113385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3547872"/>
            <a:ext cx="113385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Read and understood all 19 IEC 61511 core safety requirement patterns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Implemented each as a JSON invariant template in the library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Mapped every audit finding to a specific IEC 61511 clause in the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773168"/>
            <a:ext cx="11612880" cy="1572768"/>
          </a:xfrm>
          <a:prstGeom prst="round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773168"/>
            <a:ext cx="11612880" cy="36576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81888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Activity 3  —  LLM Prompt Engineering and Structured 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5166360"/>
            <a:ext cx="11338560" cy="0"/>
          </a:xfrm>
          <a:prstGeom prst="line">
            <a:avLst/>
          </a:prstGeom>
          <a:ln w="9525">
            <a:solidFill>
              <a:srgbClr val="3A5F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5212080"/>
            <a:ext cx="113385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Fine-tuned Qwen 2.5 prompts to reliably extract equipment entities and control rules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Used Pydantic v2 output parsers to validate and auto-correct LLM responses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D4E6F1"/>
                </a:solidFill>
              </a:rPr>
              <a:t>  •  Measured extraction accuracy against ground-truth annotated packages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Project Plan  —  Semester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75A"/>
                </a:solidFill>
              </a:rPr>
              <a:t>Timeline with completion status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129844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417320"/>
          <a:ext cx="11612880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0"/>
                <a:gridCol w="2011680"/>
                <a:gridCol w="2468880"/>
              </a:tblGrid>
              <a:tr h="513892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Target Week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3F6B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9-Phase Pipeline Implementation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Weeks 1–4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Synthetic Benchmark Corpus Generation (50 pkgs)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Evaluation Suite (Precision / Recall / F1)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Weeks 5–6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7F37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E8F8EC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Ablation Study: Cross-Modal Linking ON vs 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Post-Generation Baseline Comparison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 7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Real-Data Run (Schneider Electric dataset)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Paper Figure Generation (matplotlib)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 9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13892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Streamlit Web Dashboard (6 pages)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Weeks 9–10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5139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Final Paper Write-Up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2141B"/>
                          </a:solidFill>
                        </a:rPr>
                        <a:t>Weeks 10–12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E67E00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A3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Conclusion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1417320"/>
            <a:ext cx="11612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We built a complete 9-phase neuro-symbolic safety auditing pipeline that combines LLMs and Z3 formal verification — the first such system for ICS specifications.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The pipeline reads all 3 document types (Control Narrative, P&amp;ID, Cause-Effect Table), automatically links entities across them using a 3-step cascade, and formally proves safety defects.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Three defect types are detected and formally proved: OMISSIONS (missing rules), CONTRADICTIONS (conflicting rules), and TAG MISMATCHES (naming errors across documents).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Preliminary evaluation on 50 synthetic packages shows: Precision = 0.960, Recall = 0.880, F1 = 0.918 — with zero false alarms on the contradiction pass.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The cross-modal entity linking module (Phase 3) is a key contribution — ablation study shows its removal drops recall by ~18 percentage points.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12141B"/>
                </a:solidFill>
              </a:rPr>
              <a:t>  •  Next steps: complete ablation study, run on real Schneider Electric specifications, finalize paper figures, and submit to [Target Conference].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6053328"/>
            <a:ext cx="11612880" cy="384048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1081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F3F6B"/>
                </a:solidFill>
              </a:rPr>
              <a:t>This work contributes a reproducible, modular, formally verified safety auditing framework — open-source, locally deployable, no cloud dependency.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73152" cy="59984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F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" y="65745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</a:rPr>
              <a:t>07-10-2026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5745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F7FA"/>
                </a:solidFill>
              </a:rPr>
              <a:t>Amrita School of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74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5F7FA"/>
                </a:solidFill>
              </a:rPr>
              <a:t>M.Tech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03504"/>
            <a:ext cx="11612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F3F6B"/>
                </a:solidFill>
              </a:rPr>
              <a:t>References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024128"/>
            <a:ext cx="116128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1417320"/>
            <a:ext cx="11612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[1]  IEC 61511-1:2016. Functional Safety — Safety Instrumented Systems for the Process Industry Sector. IEC, 2016.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[2]  Moura, L. de, &amp; Bjorner, N. (2008). Z3: An Efficient SMT Solver. TACAS 2008, Springer, LNCS 4963.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[3]  Lewis, P., et al. (2020). Retrieval-Augmented Generation for Knowledge-Intensive NLP Tasks. NeurIPS 2020.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[4]  Reimers, N., &amp; Gurevych, I. (2019). Sentence-BERT: Sentence Embeddings using Siamese BERT-Networks. EMNLP 2019.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[5]  Qwen Team, Alibaba Cloud. (2024). Qwen2.5 Technical Report. arXiv:2412.15115.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[6]  IEC 61131-3:2013. Programmable Controllers — Part 3: Programming Languages. IEC, 2013.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[7]  Schneider Electric. (2023). EcoStruxure Process Safety Manual — Reference Dataset.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12141B"/>
                </a:solidFill>
              </a:rPr>
              <a:t>  •  [8]  Charlet, J., et al. (2022). Neuro-Symbolic AI for Safety-Critical Systems: A Survey. Safety Science, 152, 105776.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